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8"/>
  </p:notesMasterIdLst>
  <p:sldIdLst>
    <p:sldId id="256" r:id="rId2"/>
    <p:sldId id="258" r:id="rId3"/>
    <p:sldId id="259" r:id="rId4"/>
    <p:sldId id="260" r:id="rId5"/>
    <p:sldId id="264" r:id="rId6"/>
    <p:sldId id="263"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3883" autoAdjust="0"/>
  </p:normalViewPr>
  <p:slideViewPr>
    <p:cSldViewPr snapToGrid="0">
      <p:cViewPr>
        <p:scale>
          <a:sx n="54" d="100"/>
          <a:sy n="54" d="100"/>
        </p:scale>
        <p:origin x="1148" y="2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200" b="1" i="0" u="none" strike="noStrike" baseline="0">
                <a:solidFill>
                  <a:srgbClr val="FFFF00"/>
                </a:solidFill>
                <a:effectLst/>
                <a:latin typeface="Times New Roman" panose="02020603050405020304" pitchFamily="18" charset="0"/>
                <a:cs typeface="Times New Roman" panose="02020603050405020304" pitchFamily="18" charset="0"/>
              </a:rPr>
              <a:t>ISABELLA LUDWIG - KEY PERFORMANCE AREAS</a:t>
            </a:r>
            <a:endParaRPr lang="en-US" sz="1200" b="1">
              <a:solidFill>
                <a:srgbClr val="FFFF00"/>
              </a:solidFill>
              <a:latin typeface="Times New Roman" panose="02020603050405020304" pitchFamily="18" charset="0"/>
              <a:cs typeface="Times New Roman" panose="02020603050405020304" pitchFamily="18" charset="0"/>
            </a:endParaRPr>
          </a:p>
        </c:rich>
      </c:tx>
      <c:layout>
        <c:manualLayout>
          <c:xMode val="edge"/>
          <c:yMode val="edge"/>
          <c:x val="0.17514676290463693"/>
          <c:y val="9.8519976669582971E-3"/>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33949168853893263"/>
          <c:y val="0.15561533974919803"/>
          <c:w val="0.60004308836395448"/>
          <c:h val="0.72950021872265969"/>
        </c:manualLayout>
      </c:layout>
      <c:barChart>
        <c:barDir val="bar"/>
        <c:grouping val="clustered"/>
        <c:varyColors val="0"/>
        <c:ser>
          <c:idx val="0"/>
          <c:order val="0"/>
          <c:spPr>
            <a:solidFill>
              <a:srgbClr val="92D050"/>
            </a:solidFill>
            <a:ln>
              <a:noFill/>
            </a:ln>
            <a:effectLst/>
          </c:spPr>
          <c:invertIfNegative val="0"/>
          <c:cat>
            <c:strRef>
              <c:f>Sheet1!$A$1:$A$7</c:f>
              <c:strCache>
                <c:ptCount val="7"/>
                <c:pt idx="0">
                  <c:v>Tactical Awareness</c:v>
                </c:pt>
                <c:pt idx="1">
                  <c:v>Role Execution</c:v>
                </c:pt>
                <c:pt idx="2">
                  <c:v>Technical Ability</c:v>
                </c:pt>
                <c:pt idx="3">
                  <c:v>Offensive Contribution</c:v>
                </c:pt>
                <c:pt idx="4">
                  <c:v>Defensive Contribution</c:v>
                </c:pt>
                <c:pt idx="5">
                  <c:v>Physical Attributes</c:v>
                </c:pt>
                <c:pt idx="6">
                  <c:v>Psychological Attributes</c:v>
                </c:pt>
              </c:strCache>
            </c:strRef>
          </c:cat>
          <c:val>
            <c:numRef>
              <c:f>Sheet1!$B$1:$B$7</c:f>
              <c:numCache>
                <c:formatCode>General</c:formatCode>
                <c:ptCount val="7"/>
                <c:pt idx="0">
                  <c:v>4.5</c:v>
                </c:pt>
                <c:pt idx="1">
                  <c:v>4</c:v>
                </c:pt>
                <c:pt idx="2">
                  <c:v>4.2</c:v>
                </c:pt>
                <c:pt idx="3">
                  <c:v>4</c:v>
                </c:pt>
                <c:pt idx="4">
                  <c:v>4.3</c:v>
                </c:pt>
                <c:pt idx="5">
                  <c:v>4.0999999999999996</c:v>
                </c:pt>
                <c:pt idx="6">
                  <c:v>4.4000000000000004</c:v>
                </c:pt>
              </c:numCache>
            </c:numRef>
          </c:val>
          <c:extLst>
            <c:ext xmlns:c16="http://schemas.microsoft.com/office/drawing/2014/chart" uri="{C3380CC4-5D6E-409C-BE32-E72D297353CC}">
              <c16:uniqueId val="{00000000-E17D-4F0C-9DAC-4D2FDB37542C}"/>
            </c:ext>
          </c:extLst>
        </c:ser>
        <c:dLbls>
          <c:showLegendKey val="0"/>
          <c:showVal val="0"/>
          <c:showCatName val="0"/>
          <c:showSerName val="0"/>
          <c:showPercent val="0"/>
          <c:showBubbleSize val="0"/>
        </c:dLbls>
        <c:gapWidth val="182"/>
        <c:axId val="1517475824"/>
        <c:axId val="1517476656"/>
      </c:barChart>
      <c:catAx>
        <c:axId val="1517475824"/>
        <c:scaling>
          <c:orientation val="minMax"/>
        </c:scaling>
        <c:delete val="0"/>
        <c:axPos val="l"/>
        <c:numFmt formatCode="General" sourceLinked="1"/>
        <c:majorTickMark val="none"/>
        <c:minorTickMark val="none"/>
        <c:tickLblPos val="nextTo"/>
        <c:spPr>
          <a:solidFill>
            <a:schemeClr val="bg1"/>
          </a:solid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crossAx val="1517476656"/>
        <c:crosses val="autoZero"/>
        <c:auto val="1"/>
        <c:lblAlgn val="ctr"/>
        <c:lblOffset val="100"/>
        <c:noMultiLvlLbl val="0"/>
      </c:catAx>
      <c:valAx>
        <c:axId val="1517476656"/>
        <c:scaling>
          <c:orientation val="minMax"/>
        </c:scaling>
        <c:delete val="0"/>
        <c:axPos val="b"/>
        <c:majorGridlines>
          <c:spPr>
            <a:ln w="9525" cap="flat" cmpd="sng" algn="ctr">
              <a:solidFill>
                <a:schemeClr val="bg1"/>
              </a:solidFill>
              <a:round/>
            </a:ln>
            <a:effectLst/>
          </c:spPr>
        </c:majorGridlines>
        <c:numFmt formatCode="General" sourceLinked="1"/>
        <c:majorTickMark val="none"/>
        <c:minorTickMark val="none"/>
        <c:tickLblPos val="nextTo"/>
        <c:spPr>
          <a:solidFill>
            <a:schemeClr val="bg1"/>
          </a:solidFill>
          <a:ln>
            <a:noFill/>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crossAx val="1517475824"/>
        <c:crosses val="autoZero"/>
        <c:crossBetween val="between"/>
      </c:valAx>
      <c:spPr>
        <a:solidFill>
          <a:schemeClr val="tx1"/>
        </a:solid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4B46C0-4619-4418-AA4A-D3525BEB2224}" type="datetimeFigureOut">
              <a:rPr lang="en-US" smtClean="0"/>
              <a:t>1/1/2026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B85B0A9-1978-4035-A447-43D844CF29D9}" type="slidenum">
              <a:rPr lang="en-US" smtClean="0"/>
              <a:t>‹#›</a:t>
            </a:fld>
            <a:endParaRPr lang="en-US"/>
          </a:p>
        </p:txBody>
      </p:sp>
    </p:spTree>
    <p:extLst>
      <p:ext uri="{BB962C8B-B14F-4D97-AF65-F5344CB8AC3E}">
        <p14:creationId xmlns:p14="http://schemas.microsoft.com/office/powerpoint/2010/main" val="15431775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6FCEDA23-A262-4045-9FA1-55FA3A98703F}" type="datetimeFigureOut">
              <a:rPr lang="en-US" smtClean="0"/>
              <a:t>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9F66DC3-871B-468F-8FB5-528195913A98}" type="slidenum">
              <a:rPr lang="en-US" smtClean="0"/>
              <a:t>‹#›</a:t>
            </a:fld>
            <a:endParaRPr lang="en-US"/>
          </a:p>
        </p:txBody>
      </p:sp>
    </p:spTree>
    <p:extLst>
      <p:ext uri="{BB962C8B-B14F-4D97-AF65-F5344CB8AC3E}">
        <p14:creationId xmlns:p14="http://schemas.microsoft.com/office/powerpoint/2010/main" val="14297339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FCEDA23-A262-4045-9FA1-55FA3A98703F}" type="datetimeFigureOut">
              <a:rPr lang="en-US" smtClean="0"/>
              <a:t>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9F66DC3-871B-468F-8FB5-528195913A98}" type="slidenum">
              <a:rPr lang="en-US" smtClean="0"/>
              <a:t>‹#›</a:t>
            </a:fld>
            <a:endParaRPr lang="en-US"/>
          </a:p>
        </p:txBody>
      </p:sp>
    </p:spTree>
    <p:extLst>
      <p:ext uri="{BB962C8B-B14F-4D97-AF65-F5344CB8AC3E}">
        <p14:creationId xmlns:p14="http://schemas.microsoft.com/office/powerpoint/2010/main" val="36334082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6FCEDA23-A262-4045-9FA1-55FA3A98703F}" type="datetimeFigureOut">
              <a:rPr lang="en-US" smtClean="0"/>
              <a:t>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9F66DC3-871B-468F-8FB5-528195913A98}" type="slidenum">
              <a:rPr lang="en-US" smtClean="0"/>
              <a:t>‹#›</a:t>
            </a:fld>
            <a:endParaRPr lang="en-US"/>
          </a:p>
        </p:txBody>
      </p:sp>
    </p:spTree>
    <p:extLst>
      <p:ext uri="{BB962C8B-B14F-4D97-AF65-F5344CB8AC3E}">
        <p14:creationId xmlns:p14="http://schemas.microsoft.com/office/powerpoint/2010/main" val="17553187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6FCEDA23-A262-4045-9FA1-55FA3A98703F}" type="datetimeFigureOut">
              <a:rPr lang="en-US" smtClean="0"/>
              <a:t>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9F66DC3-871B-468F-8FB5-528195913A98}" type="slidenum">
              <a:rPr lang="en-US" smtClean="0"/>
              <a:t>‹#›</a:t>
            </a:fld>
            <a:endParaRPr lang="en-US"/>
          </a:p>
        </p:txBody>
      </p:sp>
    </p:spTree>
    <p:extLst>
      <p:ext uri="{BB962C8B-B14F-4D97-AF65-F5344CB8AC3E}">
        <p14:creationId xmlns:p14="http://schemas.microsoft.com/office/powerpoint/2010/main" val="6839808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6FCEDA23-A262-4045-9FA1-55FA3A98703F}" type="datetimeFigureOut">
              <a:rPr lang="en-US" smtClean="0"/>
              <a:t>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9F66DC3-871B-468F-8FB5-528195913A98}" type="slidenum">
              <a:rPr lang="en-US" smtClean="0"/>
              <a:t>‹#›</a:t>
            </a:fld>
            <a:endParaRPr lang="en-US"/>
          </a:p>
        </p:txBody>
      </p:sp>
    </p:spTree>
    <p:extLst>
      <p:ext uri="{BB962C8B-B14F-4D97-AF65-F5344CB8AC3E}">
        <p14:creationId xmlns:p14="http://schemas.microsoft.com/office/powerpoint/2010/main" val="14591784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6FCEDA23-A262-4045-9FA1-55FA3A98703F}" type="datetimeFigureOut">
              <a:rPr lang="en-US" smtClean="0"/>
              <a:t>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9F66DC3-871B-468F-8FB5-528195913A98}" type="slidenum">
              <a:rPr lang="en-US" smtClean="0"/>
              <a:t>‹#›</a:t>
            </a:fld>
            <a:endParaRPr lang="en-US"/>
          </a:p>
        </p:txBody>
      </p:sp>
    </p:spTree>
    <p:extLst>
      <p:ext uri="{BB962C8B-B14F-4D97-AF65-F5344CB8AC3E}">
        <p14:creationId xmlns:p14="http://schemas.microsoft.com/office/powerpoint/2010/main" val="35801660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FCEDA23-A262-4045-9FA1-55FA3A98703F}" type="datetimeFigureOut">
              <a:rPr lang="en-US" smtClean="0"/>
              <a:t>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9F66DC3-871B-468F-8FB5-528195913A98}" type="slidenum">
              <a:rPr lang="en-US" smtClean="0"/>
              <a:t>‹#›</a:t>
            </a:fld>
            <a:endParaRPr lang="en-US"/>
          </a:p>
        </p:txBody>
      </p:sp>
    </p:spTree>
    <p:extLst>
      <p:ext uri="{BB962C8B-B14F-4D97-AF65-F5344CB8AC3E}">
        <p14:creationId xmlns:p14="http://schemas.microsoft.com/office/powerpoint/2010/main" val="33996321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6FCEDA23-A262-4045-9FA1-55FA3A98703F}" type="datetimeFigureOut">
              <a:rPr lang="en-US" smtClean="0"/>
              <a:t>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9F66DC3-871B-468F-8FB5-528195913A98}" type="slidenum">
              <a:rPr lang="en-US" smtClean="0"/>
              <a:t>‹#›</a:t>
            </a:fld>
            <a:endParaRPr lang="en-US"/>
          </a:p>
        </p:txBody>
      </p:sp>
    </p:spTree>
    <p:extLst>
      <p:ext uri="{BB962C8B-B14F-4D97-AF65-F5344CB8AC3E}">
        <p14:creationId xmlns:p14="http://schemas.microsoft.com/office/powerpoint/2010/main" val="15677054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6FCEDA23-A262-4045-9FA1-55FA3A98703F}" type="datetimeFigureOut">
              <a:rPr lang="en-US" smtClean="0"/>
              <a:t>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9F66DC3-871B-468F-8FB5-528195913A98}" type="slidenum">
              <a:rPr lang="en-US" smtClean="0"/>
              <a:t>‹#›</a:t>
            </a:fld>
            <a:endParaRPr lang="en-US"/>
          </a:p>
        </p:txBody>
      </p:sp>
    </p:spTree>
    <p:extLst>
      <p:ext uri="{BB962C8B-B14F-4D97-AF65-F5344CB8AC3E}">
        <p14:creationId xmlns:p14="http://schemas.microsoft.com/office/powerpoint/2010/main" val="26212965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FCEDA23-A262-4045-9FA1-55FA3A98703F}" type="datetimeFigureOut">
              <a:rPr lang="en-US" smtClean="0"/>
              <a:t>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9F66DC3-871B-468F-8FB5-528195913A98}" type="slidenum">
              <a:rPr lang="en-US" smtClean="0"/>
              <a:t>‹#›</a:t>
            </a:fld>
            <a:endParaRPr lang="en-US"/>
          </a:p>
        </p:txBody>
      </p:sp>
    </p:spTree>
    <p:extLst>
      <p:ext uri="{BB962C8B-B14F-4D97-AF65-F5344CB8AC3E}">
        <p14:creationId xmlns:p14="http://schemas.microsoft.com/office/powerpoint/2010/main" val="17734029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FCEDA23-A262-4045-9FA1-55FA3A98703F}" type="datetimeFigureOut">
              <a:rPr lang="en-US" smtClean="0"/>
              <a:t>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9F66DC3-871B-468F-8FB5-528195913A98}" type="slidenum">
              <a:rPr lang="en-US" smtClean="0"/>
              <a:t>‹#›</a:t>
            </a:fld>
            <a:endParaRPr lang="en-US"/>
          </a:p>
        </p:txBody>
      </p:sp>
    </p:spTree>
    <p:extLst>
      <p:ext uri="{BB962C8B-B14F-4D97-AF65-F5344CB8AC3E}">
        <p14:creationId xmlns:p14="http://schemas.microsoft.com/office/powerpoint/2010/main" val="30299261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FCEDA23-A262-4045-9FA1-55FA3A98703F}" type="datetimeFigureOut">
              <a:rPr lang="en-US" smtClean="0"/>
              <a:t>1/1/2026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9F66DC3-871B-468F-8FB5-528195913A98}" type="slidenum">
              <a:rPr lang="en-US" smtClean="0"/>
              <a:t>‹#›</a:t>
            </a:fld>
            <a:endParaRPr lang="en-US"/>
          </a:p>
        </p:txBody>
      </p:sp>
    </p:spTree>
    <p:extLst>
      <p:ext uri="{BB962C8B-B14F-4D97-AF65-F5344CB8AC3E}">
        <p14:creationId xmlns:p14="http://schemas.microsoft.com/office/powerpoint/2010/main" val="4103668434"/>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hyperlink" Target="mailto:mukiebemaryann08@gmail.com"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9682" y="678729"/>
            <a:ext cx="3799003" cy="1293067"/>
          </a:xfrm>
        </p:spPr>
        <p:txBody>
          <a:bodyPr>
            <a:normAutofit fontScale="90000"/>
          </a:bodyPr>
          <a:lstStyle/>
          <a:p>
            <a:r>
              <a:rPr lang="en-US" b="1" dirty="0">
                <a:latin typeface="Times New Roman" panose="02020603050405020304" pitchFamily="18" charset="0"/>
                <a:cs typeface="Times New Roman" panose="02020603050405020304" pitchFamily="18" charset="0"/>
              </a:rPr>
              <a:t>ISABELLA </a:t>
            </a:r>
            <a:br>
              <a:rPr lang="en-US" b="1"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LUDWIG</a:t>
            </a:r>
            <a:endParaRPr lang="en-US" dirty="0"/>
          </a:p>
        </p:txBody>
      </p:sp>
      <p:sp>
        <p:nvSpPr>
          <p:cNvPr id="3" name="Subtitle 2"/>
          <p:cNvSpPr>
            <a:spLocks noGrp="1"/>
          </p:cNvSpPr>
          <p:nvPr>
            <p:ph type="subTitle" idx="1"/>
          </p:nvPr>
        </p:nvSpPr>
        <p:spPr>
          <a:xfrm>
            <a:off x="8727440" y="5604234"/>
            <a:ext cx="3352800" cy="1162326"/>
          </a:xfrm>
        </p:spPr>
        <p:txBody>
          <a:bodyPr>
            <a:normAutofit fontScale="92500" lnSpcReduction="10000"/>
          </a:bodyPr>
          <a:lstStyle/>
          <a:p>
            <a:pPr algn="l"/>
            <a:r>
              <a:rPr lang="en-US" sz="2600" b="1" dirty="0">
                <a:solidFill>
                  <a:srgbClr val="92D050"/>
                </a:solidFill>
                <a:latin typeface="Times New Roman" panose="02020603050405020304" pitchFamily="18" charset="0"/>
                <a:cs typeface="Times New Roman" panose="02020603050405020304" pitchFamily="18" charset="0"/>
              </a:rPr>
              <a:t>Player Report by </a:t>
            </a:r>
            <a:endParaRPr lang="en-US" sz="2600" b="1" dirty="0" smtClean="0">
              <a:solidFill>
                <a:srgbClr val="92D050"/>
              </a:solidFill>
              <a:latin typeface="Times New Roman" panose="02020603050405020304" pitchFamily="18" charset="0"/>
              <a:cs typeface="Times New Roman" panose="02020603050405020304" pitchFamily="18" charset="0"/>
            </a:endParaRPr>
          </a:p>
          <a:p>
            <a:pPr algn="l"/>
            <a:r>
              <a:rPr lang="en-US" sz="2600" b="1" dirty="0" smtClean="0">
                <a:solidFill>
                  <a:srgbClr val="92D050"/>
                </a:solidFill>
                <a:latin typeface="Times New Roman" panose="02020603050405020304" pitchFamily="18" charset="0"/>
                <a:cs typeface="Times New Roman" panose="02020603050405020304" pitchFamily="18" charset="0"/>
              </a:rPr>
              <a:t>Mukiebe </a:t>
            </a:r>
            <a:r>
              <a:rPr lang="en-US" sz="2600" b="1" dirty="0">
                <a:solidFill>
                  <a:srgbClr val="92D050"/>
                </a:solidFill>
                <a:latin typeface="Times New Roman" panose="02020603050405020304" pitchFamily="18" charset="0"/>
                <a:cs typeface="Times New Roman" panose="02020603050405020304" pitchFamily="18" charset="0"/>
              </a:rPr>
              <a:t>Maryann</a:t>
            </a:r>
            <a:endParaRPr lang="en-US" sz="2600" dirty="0">
              <a:solidFill>
                <a:srgbClr val="92D050"/>
              </a:solidFill>
              <a:latin typeface="Times New Roman" panose="02020603050405020304" pitchFamily="18" charset="0"/>
              <a:cs typeface="Times New Roman" panose="02020603050405020304" pitchFamily="18" charset="0"/>
            </a:endParaRPr>
          </a:p>
          <a:p>
            <a:pPr algn="l"/>
            <a:r>
              <a:rPr lang="en-US" sz="1400" b="1" dirty="0">
                <a:solidFill>
                  <a:srgbClr val="00B050"/>
                </a:solidFill>
                <a:latin typeface="Times New Roman" panose="02020603050405020304" pitchFamily="18" charset="0"/>
                <a:cs typeface="Times New Roman" panose="02020603050405020304" pitchFamily="18" charset="0"/>
                <a:hlinkClick r:id="rId2"/>
              </a:rPr>
              <a:t>mukiebemaryann08@gmail.com</a:t>
            </a:r>
            <a:r>
              <a:rPr lang="en-US" sz="1400" b="1" dirty="0">
                <a:solidFill>
                  <a:srgbClr val="00B050"/>
                </a:solidFill>
                <a:latin typeface="Times New Roman" panose="02020603050405020304" pitchFamily="18" charset="0"/>
                <a:cs typeface="Times New Roman" panose="02020603050405020304" pitchFamily="18" charset="0"/>
              </a:rPr>
              <a:t> </a:t>
            </a:r>
          </a:p>
          <a:p>
            <a:endParaRPr lang="en-US" dirty="0"/>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05467" y="1191442"/>
            <a:ext cx="4950853" cy="5189037"/>
          </a:xfrm>
          <a:prstGeom prst="rect">
            <a:avLst/>
          </a:prstGeom>
        </p:spPr>
      </p:pic>
    </p:spTree>
    <p:extLst>
      <p:ext uri="{BB962C8B-B14F-4D97-AF65-F5344CB8AC3E}">
        <p14:creationId xmlns:p14="http://schemas.microsoft.com/office/powerpoint/2010/main" val="224820700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36798" y="486888"/>
            <a:ext cx="9577122" cy="878774"/>
          </a:xfrm>
        </p:spPr>
        <p:txBody>
          <a:bodyPr>
            <a:normAutofit/>
          </a:bodyPr>
          <a:lstStyle/>
          <a:p>
            <a:pPr algn="ctr"/>
            <a:r>
              <a:rPr lang="en-US" sz="2500" b="1" dirty="0" smtClean="0">
                <a:solidFill>
                  <a:srgbClr val="FFFF00"/>
                </a:solidFill>
                <a:latin typeface="Times New Roman" panose="02020603050405020304" pitchFamily="18" charset="0"/>
                <a:cs typeface="Times New Roman" panose="02020603050405020304" pitchFamily="18" charset="0"/>
              </a:rPr>
              <a:t>EXECUTIVE SUMMARY</a:t>
            </a:r>
            <a:endParaRPr lang="en-US" sz="2500" b="1" dirty="0">
              <a:solidFill>
                <a:srgbClr val="FFFF00"/>
              </a:solidFill>
              <a:latin typeface="Times New Roman" panose="02020603050405020304" pitchFamily="18" charset="0"/>
              <a:cs typeface="Times New Roman" panose="02020603050405020304" pitchFamily="18" charset="0"/>
            </a:endParaRPr>
          </a:p>
        </p:txBody>
      </p:sp>
      <p:pic>
        <p:nvPicPr>
          <p:cNvPr id="5" name="Content Placeholder 4"/>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0" y="0"/>
            <a:ext cx="2143760" cy="1899920"/>
          </a:xfrm>
        </p:spPr>
      </p:pic>
      <p:sp>
        <p:nvSpPr>
          <p:cNvPr id="6" name="TextBox 5"/>
          <p:cNvSpPr txBox="1"/>
          <p:nvPr/>
        </p:nvSpPr>
        <p:spPr>
          <a:xfrm>
            <a:off x="2292397" y="1187467"/>
            <a:ext cx="9621523" cy="2308324"/>
          </a:xfrm>
          <a:prstGeom prst="rect">
            <a:avLst/>
          </a:prstGeom>
          <a:ln>
            <a:solidFill>
              <a:srgbClr val="FFFF00"/>
            </a:solidFill>
          </a:ln>
        </p:spPr>
        <p:style>
          <a:lnRef idx="2">
            <a:schemeClr val="accent4"/>
          </a:lnRef>
          <a:fillRef idx="1">
            <a:schemeClr val="lt1"/>
          </a:fillRef>
          <a:effectRef idx="0">
            <a:schemeClr val="accent4"/>
          </a:effectRef>
          <a:fontRef idx="minor">
            <a:schemeClr val="dk1"/>
          </a:fontRef>
        </p:style>
        <p:txBody>
          <a:bodyPr wrap="square" rtlCol="0">
            <a:spAutoFit/>
          </a:bodyPr>
          <a:lstStyle/>
          <a:p>
            <a:r>
              <a:rPr lang="en-US" sz="1600" dirty="0" smtClean="0">
                <a:latin typeface="Times New Roman" panose="02020603050405020304" pitchFamily="18" charset="0"/>
                <a:cs typeface="Times New Roman" panose="02020603050405020304" pitchFamily="18" charset="0"/>
              </a:rPr>
              <a:t>Isabella Alexa Ludwig is a South African midfielder who has risen through the domestic game to establish herself at both club and international level. She developed her early career at Tuks Ladies and was instrumental in the team that finished runners-up at the 2022 Sasol League National Championship. In April 2025, Ludwig moved to Mamelodi Sundowns Ladies and made an immediate impact by scoring on her debut in a 2–0 victory over UCT Ladies. </a:t>
            </a:r>
          </a:p>
          <a:p>
            <a:endParaRPr lang="en-US" sz="1600" dirty="0">
              <a:latin typeface="Times New Roman" panose="02020603050405020304" pitchFamily="18" charset="0"/>
              <a:cs typeface="Times New Roman" panose="02020603050405020304" pitchFamily="18" charset="0"/>
            </a:endParaRPr>
          </a:p>
          <a:p>
            <a:r>
              <a:rPr lang="en-US" sz="1600" dirty="0" smtClean="0">
                <a:latin typeface="Times New Roman" panose="02020603050405020304" pitchFamily="18" charset="0"/>
                <a:cs typeface="Times New Roman" panose="02020603050405020304" pitchFamily="18" charset="0"/>
              </a:rPr>
              <a:t>Internationally, she earned recognition with the South Africa women’s national team, making her senior debut against Namibia on 22 October 2024. She was part of the national squad that competed at the 2024 COSAFA Women’s Championship, further consolidating her status as a player with long-term potential.</a:t>
            </a:r>
          </a:p>
        </p:txBody>
      </p:sp>
      <p:sp>
        <p:nvSpPr>
          <p:cNvPr id="4" name="Rectangle 3"/>
          <p:cNvSpPr/>
          <p:nvPr/>
        </p:nvSpPr>
        <p:spPr>
          <a:xfrm>
            <a:off x="0" y="1899920"/>
            <a:ext cx="2143760" cy="4958080"/>
          </a:xfrm>
          <a:prstGeom prst="rect">
            <a:avLst/>
          </a:prstGeom>
          <a:no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p:cNvSpPr txBox="1"/>
          <p:nvPr/>
        </p:nvSpPr>
        <p:spPr>
          <a:xfrm>
            <a:off x="0" y="2255520"/>
            <a:ext cx="2143760" cy="2400657"/>
          </a:xfrm>
          <a:prstGeom prst="rect">
            <a:avLst/>
          </a:prstGeom>
          <a:noFill/>
        </p:spPr>
        <p:txBody>
          <a:bodyPr wrap="square" rtlCol="0">
            <a:spAutoFit/>
          </a:bodyPr>
          <a:lstStyle/>
          <a:p>
            <a:r>
              <a:rPr lang="en-US" sz="1200" dirty="0">
                <a:latin typeface="Times New Roman" panose="02020603050405020304" pitchFamily="18" charset="0"/>
                <a:cs typeface="Times New Roman" panose="02020603050405020304" pitchFamily="18" charset="0"/>
              </a:rPr>
              <a:t>Player Name: Isabella Ludwig</a:t>
            </a:r>
            <a:br>
              <a:rPr lang="en-US" sz="1200" dirty="0">
                <a:latin typeface="Times New Roman" panose="02020603050405020304" pitchFamily="18" charset="0"/>
                <a:cs typeface="Times New Roman" panose="02020603050405020304" pitchFamily="18" charset="0"/>
              </a:rPr>
            </a:br>
            <a:r>
              <a:rPr lang="en-US" sz="1200" dirty="0">
                <a:latin typeface="Times New Roman" panose="02020603050405020304" pitchFamily="18" charset="0"/>
                <a:cs typeface="Times New Roman" panose="02020603050405020304" pitchFamily="18" charset="0"/>
              </a:rPr>
              <a:t>Age: 23 years</a:t>
            </a:r>
            <a:br>
              <a:rPr lang="en-US" sz="1200" dirty="0">
                <a:latin typeface="Times New Roman" panose="02020603050405020304" pitchFamily="18" charset="0"/>
                <a:cs typeface="Times New Roman" panose="02020603050405020304" pitchFamily="18" charset="0"/>
              </a:rPr>
            </a:br>
            <a:r>
              <a:rPr lang="en-US" sz="1200" dirty="0">
                <a:latin typeface="Times New Roman" panose="02020603050405020304" pitchFamily="18" charset="0"/>
                <a:cs typeface="Times New Roman" panose="02020603050405020304" pitchFamily="18" charset="0"/>
              </a:rPr>
              <a:t>Nationality: South </a:t>
            </a:r>
            <a:r>
              <a:rPr lang="en-US" sz="1200" dirty="0" smtClean="0">
                <a:latin typeface="Times New Roman" panose="02020603050405020304" pitchFamily="18" charset="0"/>
                <a:cs typeface="Times New Roman" panose="02020603050405020304" pitchFamily="18" charset="0"/>
              </a:rPr>
              <a:t>African</a:t>
            </a:r>
          </a:p>
          <a:p>
            <a:r>
              <a:rPr lang="en-US" sz="1200" dirty="0" smtClean="0">
                <a:latin typeface="Times New Roman" panose="02020603050405020304" pitchFamily="18" charset="0"/>
                <a:cs typeface="Times New Roman" panose="02020603050405020304" pitchFamily="18" charset="0"/>
              </a:rPr>
              <a:t>Club: </a:t>
            </a:r>
            <a:r>
              <a:rPr lang="en-US" sz="1200" dirty="0">
                <a:latin typeface="Times New Roman" panose="02020603050405020304" pitchFamily="18" charset="0"/>
                <a:cs typeface="Times New Roman" panose="02020603050405020304" pitchFamily="18" charset="0"/>
              </a:rPr>
              <a:t>Mamelodi Sundowns </a:t>
            </a:r>
            <a:r>
              <a:rPr lang="en-US" sz="1200" dirty="0" smtClean="0">
                <a:latin typeface="Times New Roman" panose="02020603050405020304" pitchFamily="18" charset="0"/>
                <a:cs typeface="Times New Roman" panose="02020603050405020304" pitchFamily="18" charset="0"/>
              </a:rPr>
              <a:t>Ladies FC</a:t>
            </a:r>
            <a:r>
              <a:rPr lang="en-US" sz="1200" dirty="0">
                <a:latin typeface="Times New Roman" panose="02020603050405020304" pitchFamily="18" charset="0"/>
                <a:cs typeface="Times New Roman" panose="02020603050405020304" pitchFamily="18" charset="0"/>
              </a:rPr>
              <a:t/>
            </a:r>
            <a:br>
              <a:rPr lang="en-US" sz="1200" dirty="0">
                <a:latin typeface="Times New Roman" panose="02020603050405020304" pitchFamily="18" charset="0"/>
                <a:cs typeface="Times New Roman" panose="02020603050405020304" pitchFamily="18" charset="0"/>
              </a:rPr>
            </a:br>
            <a:r>
              <a:rPr lang="en-US" sz="1200" dirty="0">
                <a:latin typeface="Times New Roman" panose="02020603050405020304" pitchFamily="18" charset="0"/>
                <a:cs typeface="Times New Roman" panose="02020603050405020304" pitchFamily="18" charset="0"/>
              </a:rPr>
              <a:t>Primary Position: Midfielder </a:t>
            </a:r>
            <a:endParaRPr lang="en-US" sz="1200" dirty="0" smtClean="0">
              <a:latin typeface="Times New Roman" panose="02020603050405020304" pitchFamily="18" charset="0"/>
              <a:cs typeface="Times New Roman" panose="02020603050405020304" pitchFamily="18" charset="0"/>
            </a:endParaRPr>
          </a:p>
          <a:p>
            <a:r>
              <a:rPr lang="en-US" sz="1200" dirty="0" smtClean="0">
                <a:latin typeface="Times New Roman" panose="02020603050405020304" pitchFamily="18" charset="0"/>
                <a:cs typeface="Times New Roman" panose="02020603050405020304" pitchFamily="18" charset="0"/>
              </a:rPr>
              <a:t>Height: 1.69m</a:t>
            </a:r>
          </a:p>
          <a:p>
            <a:r>
              <a:rPr lang="en-US" sz="1200" dirty="0">
                <a:latin typeface="Times New Roman" panose="02020603050405020304" pitchFamily="18" charset="0"/>
                <a:cs typeface="Times New Roman" panose="02020603050405020304" pitchFamily="18" charset="0"/>
              </a:rPr>
              <a:t>Preferred Foot: Not specified</a:t>
            </a:r>
            <a:br>
              <a:rPr lang="en-US" sz="1200" dirty="0">
                <a:latin typeface="Times New Roman" panose="02020603050405020304" pitchFamily="18" charset="0"/>
                <a:cs typeface="Times New Roman" panose="02020603050405020304" pitchFamily="18" charset="0"/>
              </a:rPr>
            </a:br>
            <a:r>
              <a:rPr lang="en-US" sz="1200" dirty="0">
                <a:latin typeface="Times New Roman" panose="02020603050405020304" pitchFamily="18" charset="0"/>
                <a:cs typeface="Times New Roman" panose="02020603050405020304" pitchFamily="18" charset="0"/>
              </a:rPr>
              <a:t>Contract Status: Joined 2025</a:t>
            </a:r>
            <a:endParaRPr lang="en-US" sz="1200" dirty="0" smtClean="0">
              <a:latin typeface="Times New Roman" panose="02020603050405020304" pitchFamily="18" charset="0"/>
              <a:cs typeface="Times New Roman" panose="02020603050405020304" pitchFamily="18" charset="0"/>
            </a:endParaRPr>
          </a:p>
          <a:p>
            <a:endParaRPr lang="en-US" sz="1200" dirty="0">
              <a:latin typeface="Times New Roman" panose="02020603050405020304" pitchFamily="18" charset="0"/>
              <a:cs typeface="Times New Roman" panose="02020603050405020304" pitchFamily="18" charset="0"/>
            </a:endParaRPr>
          </a:p>
          <a:p>
            <a:r>
              <a:rPr lang="en-US" sz="1200" dirty="0" smtClean="0">
                <a:latin typeface="Times New Roman" panose="02020603050405020304" pitchFamily="18" charset="0"/>
                <a:cs typeface="Times New Roman" panose="02020603050405020304" pitchFamily="18" charset="0"/>
              </a:rPr>
              <a:t>2026-01-02</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endParaRPr lang="en-US" dirty="0"/>
          </a:p>
        </p:txBody>
      </p:sp>
      <p:sp>
        <p:nvSpPr>
          <p:cNvPr id="22" name="TextBox 21"/>
          <p:cNvSpPr txBox="1"/>
          <p:nvPr/>
        </p:nvSpPr>
        <p:spPr>
          <a:xfrm>
            <a:off x="2458192" y="3693226"/>
            <a:ext cx="3776353" cy="400110"/>
          </a:xfrm>
          <a:prstGeom prst="rect">
            <a:avLst/>
          </a:prstGeom>
          <a:noFill/>
        </p:spPr>
        <p:txBody>
          <a:bodyPr wrap="square" rtlCol="0">
            <a:spAutoFit/>
          </a:bodyPr>
          <a:lstStyle/>
          <a:p>
            <a:r>
              <a:rPr lang="en-US" sz="2000" b="1" dirty="0" smtClean="0">
                <a:solidFill>
                  <a:srgbClr val="FFFF00"/>
                </a:solidFill>
                <a:latin typeface="Times New Roman" panose="02020603050405020304" pitchFamily="18" charset="0"/>
                <a:cs typeface="Times New Roman" panose="02020603050405020304" pitchFamily="18" charset="0"/>
              </a:rPr>
              <a:t>STRENGTHS</a:t>
            </a:r>
            <a:endParaRPr lang="en-US" sz="2000" b="1" dirty="0">
              <a:solidFill>
                <a:srgbClr val="FFFF00"/>
              </a:solidFill>
              <a:latin typeface="Times New Roman" panose="02020603050405020304" pitchFamily="18" charset="0"/>
              <a:cs typeface="Times New Roman" panose="02020603050405020304" pitchFamily="18" charset="0"/>
            </a:endParaRPr>
          </a:p>
        </p:txBody>
      </p:sp>
      <p:sp>
        <p:nvSpPr>
          <p:cNvPr id="23" name="TextBox 22"/>
          <p:cNvSpPr txBox="1"/>
          <p:nvPr/>
        </p:nvSpPr>
        <p:spPr>
          <a:xfrm>
            <a:off x="7137070" y="3693226"/>
            <a:ext cx="4880759" cy="400110"/>
          </a:xfrm>
          <a:prstGeom prst="rect">
            <a:avLst/>
          </a:prstGeom>
          <a:noFill/>
        </p:spPr>
        <p:txBody>
          <a:bodyPr wrap="square" rtlCol="0">
            <a:spAutoFit/>
          </a:bodyPr>
          <a:lstStyle/>
          <a:p>
            <a:r>
              <a:rPr lang="en-US" sz="2000" b="1" dirty="0" smtClean="0">
                <a:solidFill>
                  <a:srgbClr val="FFFF00"/>
                </a:solidFill>
                <a:latin typeface="Times New Roman" panose="02020603050405020304" pitchFamily="18" charset="0"/>
                <a:cs typeface="Times New Roman" panose="02020603050405020304" pitchFamily="18" charset="0"/>
              </a:rPr>
              <a:t>WEAKNESSES</a:t>
            </a:r>
            <a:endParaRPr lang="en-US" sz="2000" b="1" dirty="0">
              <a:solidFill>
                <a:srgbClr val="FFFF00"/>
              </a:solidFill>
              <a:latin typeface="Times New Roman" panose="02020603050405020304" pitchFamily="18" charset="0"/>
              <a:cs typeface="Times New Roman" panose="02020603050405020304" pitchFamily="18" charset="0"/>
            </a:endParaRPr>
          </a:p>
        </p:txBody>
      </p:sp>
      <p:sp>
        <p:nvSpPr>
          <p:cNvPr id="24" name="TextBox 23"/>
          <p:cNvSpPr txBox="1"/>
          <p:nvPr/>
        </p:nvSpPr>
        <p:spPr>
          <a:xfrm>
            <a:off x="2458192" y="4093336"/>
            <a:ext cx="4465122" cy="2446824"/>
          </a:xfrm>
          <a:prstGeom prst="rect">
            <a:avLst/>
          </a:prstGeom>
          <a:solidFill>
            <a:schemeClr val="tx1"/>
          </a:solidFill>
        </p:spPr>
        <p:txBody>
          <a:bodyPr wrap="square" rtlCol="0">
            <a:spAutoFit/>
          </a:bodyPr>
          <a:lstStyle/>
          <a:p>
            <a:pPr marL="285750" lvl="0" indent="-285750">
              <a:buFont typeface="Arial" panose="020B0604020202020204" pitchFamily="34" charset="0"/>
              <a:buChar char="•"/>
            </a:pPr>
            <a:r>
              <a:rPr lang="en-US" sz="1500" dirty="0">
                <a:solidFill>
                  <a:schemeClr val="bg1"/>
                </a:solidFill>
                <a:latin typeface="Times New Roman" panose="02020603050405020304" pitchFamily="18" charset="0"/>
                <a:cs typeface="Times New Roman" panose="02020603050405020304" pitchFamily="18" charset="0"/>
              </a:rPr>
              <a:t>High game intelligence and spatial awareness</a:t>
            </a:r>
          </a:p>
          <a:p>
            <a:pPr marL="285750" lvl="0" indent="-285750">
              <a:buFont typeface="Arial" panose="020B0604020202020204" pitchFamily="34" charset="0"/>
              <a:buChar char="•"/>
            </a:pPr>
            <a:r>
              <a:rPr lang="en-US" sz="1500" dirty="0">
                <a:solidFill>
                  <a:schemeClr val="bg1"/>
                </a:solidFill>
                <a:latin typeface="Times New Roman" panose="02020603050405020304" pitchFamily="18" charset="0"/>
                <a:cs typeface="Times New Roman" panose="02020603050405020304" pitchFamily="18" charset="0"/>
              </a:rPr>
              <a:t>High work rate </a:t>
            </a:r>
            <a:r>
              <a:rPr lang="en-US" sz="1500" dirty="0" smtClean="0">
                <a:solidFill>
                  <a:schemeClr val="bg1"/>
                </a:solidFill>
                <a:latin typeface="Times New Roman" panose="02020603050405020304" pitchFamily="18" charset="0"/>
                <a:cs typeface="Times New Roman" panose="02020603050405020304" pitchFamily="18" charset="0"/>
              </a:rPr>
              <a:t>and </a:t>
            </a:r>
            <a:r>
              <a:rPr lang="en-US" sz="1500" dirty="0">
                <a:solidFill>
                  <a:schemeClr val="bg1"/>
                </a:solidFill>
                <a:latin typeface="Times New Roman" panose="02020603050405020304" pitchFamily="18" charset="0"/>
                <a:cs typeface="Times New Roman" panose="02020603050405020304" pitchFamily="18" charset="0"/>
              </a:rPr>
              <a:t>early match impact</a:t>
            </a:r>
          </a:p>
          <a:p>
            <a:pPr marL="285750" lvl="0" indent="-285750">
              <a:buFont typeface="Arial" panose="020B0604020202020204" pitchFamily="34" charset="0"/>
              <a:buChar char="•"/>
            </a:pPr>
            <a:r>
              <a:rPr lang="en-US" sz="1500" dirty="0">
                <a:solidFill>
                  <a:schemeClr val="bg1"/>
                </a:solidFill>
                <a:latin typeface="Times New Roman" panose="02020603050405020304" pitchFamily="18" charset="0"/>
                <a:cs typeface="Times New Roman" panose="02020603050405020304" pitchFamily="18" charset="0"/>
              </a:rPr>
              <a:t>Reliable defensive contribution and team cover</a:t>
            </a:r>
          </a:p>
          <a:p>
            <a:pPr marL="285750" lvl="0" indent="-285750">
              <a:buFont typeface="Arial" panose="020B0604020202020204" pitchFamily="34" charset="0"/>
              <a:buChar char="•"/>
            </a:pPr>
            <a:r>
              <a:rPr lang="en-US" sz="1500" dirty="0">
                <a:solidFill>
                  <a:schemeClr val="bg1"/>
                </a:solidFill>
                <a:latin typeface="Times New Roman" panose="02020603050405020304" pitchFamily="18" charset="0"/>
                <a:cs typeface="Times New Roman" panose="02020603050405020304" pitchFamily="18" charset="0"/>
              </a:rPr>
              <a:t>Good speed, balance, and overall athleticism</a:t>
            </a:r>
          </a:p>
          <a:p>
            <a:pPr marL="285750" lvl="0" indent="-285750">
              <a:buFont typeface="Arial" panose="020B0604020202020204" pitchFamily="34" charset="0"/>
              <a:buChar char="•"/>
            </a:pPr>
            <a:r>
              <a:rPr lang="en-US" sz="1500" dirty="0">
                <a:solidFill>
                  <a:schemeClr val="bg1"/>
                </a:solidFill>
                <a:latin typeface="Times New Roman" panose="02020603050405020304" pitchFamily="18" charset="0"/>
                <a:cs typeface="Times New Roman" panose="02020603050405020304" pitchFamily="18" charset="0"/>
              </a:rPr>
              <a:t>Strong duel-winning ability</a:t>
            </a:r>
          </a:p>
          <a:p>
            <a:pPr marL="285750" lvl="0" indent="-285750">
              <a:buFont typeface="Arial" panose="020B0604020202020204" pitchFamily="34" charset="0"/>
              <a:buChar char="•"/>
            </a:pPr>
            <a:r>
              <a:rPr lang="en-US" sz="1500" dirty="0">
                <a:solidFill>
                  <a:schemeClr val="bg1"/>
                </a:solidFill>
                <a:latin typeface="Times New Roman" panose="02020603050405020304" pitchFamily="18" charset="0"/>
                <a:cs typeface="Times New Roman" panose="02020603050405020304" pitchFamily="18" charset="0"/>
              </a:rPr>
              <a:t>Excellent off-the-ball movement and positioning</a:t>
            </a:r>
          </a:p>
          <a:p>
            <a:pPr marL="285750" lvl="0" indent="-285750">
              <a:buFont typeface="Arial" panose="020B0604020202020204" pitchFamily="34" charset="0"/>
              <a:buChar char="•"/>
            </a:pPr>
            <a:r>
              <a:rPr lang="en-US" sz="1500" dirty="0">
                <a:solidFill>
                  <a:schemeClr val="bg1"/>
                </a:solidFill>
                <a:latin typeface="Times New Roman" panose="02020603050405020304" pitchFamily="18" charset="0"/>
                <a:cs typeface="Times New Roman" panose="02020603050405020304" pitchFamily="18" charset="0"/>
              </a:rPr>
              <a:t>Comfortable ball shielding and ball carrying</a:t>
            </a:r>
          </a:p>
          <a:p>
            <a:pPr marL="285750" lvl="0" indent="-285750">
              <a:buFont typeface="Arial" panose="020B0604020202020204" pitchFamily="34" charset="0"/>
              <a:buChar char="•"/>
            </a:pPr>
            <a:r>
              <a:rPr lang="en-US" sz="1500" dirty="0" smtClean="0">
                <a:solidFill>
                  <a:schemeClr val="bg1"/>
                </a:solidFill>
                <a:latin typeface="Times New Roman" panose="02020603050405020304" pitchFamily="18" charset="0"/>
                <a:cs typeface="Times New Roman" panose="02020603050405020304" pitchFamily="18" charset="0"/>
              </a:rPr>
              <a:t>Reliable </a:t>
            </a:r>
            <a:r>
              <a:rPr lang="en-US" sz="1500" dirty="0">
                <a:solidFill>
                  <a:schemeClr val="bg1"/>
                </a:solidFill>
                <a:latin typeface="Times New Roman" panose="02020603050405020304" pitchFamily="18" charset="0"/>
                <a:cs typeface="Times New Roman" panose="02020603050405020304" pitchFamily="18" charset="0"/>
              </a:rPr>
              <a:t>defensive contribution and team cover</a:t>
            </a:r>
          </a:p>
          <a:p>
            <a:pPr marL="285750" lvl="0" indent="-285750">
              <a:buFont typeface="Arial" panose="020B0604020202020204" pitchFamily="34" charset="0"/>
              <a:buChar char="•"/>
            </a:pPr>
            <a:r>
              <a:rPr lang="en-US" sz="1500" dirty="0">
                <a:solidFill>
                  <a:schemeClr val="bg1"/>
                </a:solidFill>
                <a:latin typeface="Times New Roman" panose="02020603050405020304" pitchFamily="18" charset="0"/>
                <a:cs typeface="Times New Roman" panose="02020603050405020304" pitchFamily="18" charset="0"/>
              </a:rPr>
              <a:t>Strong communication and team-first mentality</a:t>
            </a:r>
          </a:p>
          <a:p>
            <a:endParaRPr lang="en-US" dirty="0"/>
          </a:p>
        </p:txBody>
      </p:sp>
      <p:sp>
        <p:nvSpPr>
          <p:cNvPr id="29" name="TextBox 28"/>
          <p:cNvSpPr txBox="1"/>
          <p:nvPr/>
        </p:nvSpPr>
        <p:spPr>
          <a:xfrm>
            <a:off x="7612084" y="4093336"/>
            <a:ext cx="4301836" cy="2031325"/>
          </a:xfrm>
          <a:prstGeom prst="rect">
            <a:avLst/>
          </a:prstGeom>
          <a:solidFill>
            <a:schemeClr val="tx1"/>
          </a:solidFill>
        </p:spPr>
        <p:txBody>
          <a:bodyPr wrap="square" rtlCol="0">
            <a:spAutoFit/>
          </a:bodyPr>
          <a:lstStyle/>
          <a:p>
            <a:pPr marL="285750" indent="-285750">
              <a:buFont typeface="Arial" panose="020B0604020202020204" pitchFamily="34" charset="0"/>
              <a:buChar char="•"/>
            </a:pPr>
            <a:r>
              <a:rPr lang="en-US" dirty="0" smtClean="0">
                <a:solidFill>
                  <a:schemeClr val="bg1"/>
                </a:solidFill>
                <a:latin typeface="Times New Roman" panose="02020603050405020304" pitchFamily="18" charset="0"/>
                <a:cs typeface="Times New Roman" panose="02020603050405020304" pitchFamily="18" charset="0"/>
              </a:rPr>
              <a:t>Occasional mispasses</a:t>
            </a:r>
          </a:p>
          <a:p>
            <a:pPr marL="285750" indent="-285750">
              <a:buFont typeface="Arial" panose="020B0604020202020204" pitchFamily="34" charset="0"/>
              <a:buChar char="•"/>
            </a:pPr>
            <a:r>
              <a:rPr lang="en-US" dirty="0" smtClean="0">
                <a:solidFill>
                  <a:schemeClr val="bg1"/>
                </a:solidFill>
                <a:latin typeface="Times New Roman" panose="02020603050405020304" pitchFamily="18" charset="0"/>
                <a:cs typeface="Times New Roman" panose="02020603050405020304" pitchFamily="18" charset="0"/>
              </a:rPr>
              <a:t>Ball </a:t>
            </a:r>
            <a:r>
              <a:rPr lang="en-US" dirty="0">
                <a:solidFill>
                  <a:schemeClr val="bg1"/>
                </a:solidFill>
                <a:latin typeface="Times New Roman" panose="02020603050405020304" pitchFamily="18" charset="0"/>
                <a:cs typeface="Times New Roman" panose="02020603050405020304" pitchFamily="18" charset="0"/>
              </a:rPr>
              <a:t>security issues in tight or unusual situations</a:t>
            </a:r>
          </a:p>
          <a:p>
            <a:pPr marL="285750" indent="-285750">
              <a:buFont typeface="Arial" panose="020B0604020202020204" pitchFamily="34" charset="0"/>
              <a:buChar char="•"/>
            </a:pPr>
            <a:r>
              <a:rPr lang="en-US" dirty="0" smtClean="0">
                <a:solidFill>
                  <a:schemeClr val="bg1"/>
                </a:solidFill>
                <a:latin typeface="Times New Roman" panose="02020603050405020304" pitchFamily="18" charset="0"/>
                <a:cs typeface="Times New Roman" panose="02020603050405020304" pitchFamily="18" charset="0"/>
              </a:rPr>
              <a:t>Decision-making </a:t>
            </a:r>
            <a:r>
              <a:rPr lang="en-US" dirty="0">
                <a:solidFill>
                  <a:schemeClr val="bg1"/>
                </a:solidFill>
                <a:latin typeface="Times New Roman" panose="02020603050405020304" pitchFamily="18" charset="0"/>
                <a:cs typeface="Times New Roman" panose="02020603050405020304" pitchFamily="18" charset="0"/>
              </a:rPr>
              <a:t>under heavy pressure can improve</a:t>
            </a:r>
          </a:p>
          <a:p>
            <a:pPr marL="285750" indent="-285750">
              <a:buFont typeface="Arial" panose="020B0604020202020204" pitchFamily="34" charset="0"/>
              <a:buChar char="•"/>
            </a:pPr>
            <a:endParaRPr lang="en-US" dirty="0" smtClean="0"/>
          </a:p>
          <a:p>
            <a:endParaRPr lang="en-US" dirty="0"/>
          </a:p>
        </p:txBody>
      </p:sp>
    </p:spTree>
    <p:extLst>
      <p:ext uri="{BB962C8B-B14F-4D97-AF65-F5344CB8AC3E}">
        <p14:creationId xmlns:p14="http://schemas.microsoft.com/office/powerpoint/2010/main" val="237752580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0" y="0"/>
            <a:ext cx="2143760" cy="1899920"/>
          </a:xfrm>
        </p:spPr>
      </p:pic>
      <p:sp>
        <p:nvSpPr>
          <p:cNvPr id="4" name="Rectangle 3"/>
          <p:cNvSpPr/>
          <p:nvPr/>
        </p:nvSpPr>
        <p:spPr>
          <a:xfrm>
            <a:off x="0" y="1899920"/>
            <a:ext cx="2143760" cy="4958080"/>
          </a:xfrm>
          <a:prstGeom prst="rect">
            <a:avLst/>
          </a:prstGeom>
          <a:no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p:cNvSpPr txBox="1"/>
          <p:nvPr/>
        </p:nvSpPr>
        <p:spPr>
          <a:xfrm>
            <a:off x="0" y="2255520"/>
            <a:ext cx="2143760" cy="2400657"/>
          </a:xfrm>
          <a:prstGeom prst="rect">
            <a:avLst/>
          </a:prstGeom>
          <a:noFill/>
        </p:spPr>
        <p:txBody>
          <a:bodyPr wrap="square" rtlCol="0">
            <a:spAutoFit/>
          </a:bodyPr>
          <a:lstStyle/>
          <a:p>
            <a:r>
              <a:rPr lang="en-US" sz="1200" dirty="0">
                <a:latin typeface="Times New Roman" panose="02020603050405020304" pitchFamily="18" charset="0"/>
                <a:cs typeface="Times New Roman" panose="02020603050405020304" pitchFamily="18" charset="0"/>
              </a:rPr>
              <a:t>Player Name: Isabella Ludwig</a:t>
            </a:r>
            <a:br>
              <a:rPr lang="en-US" sz="1200" dirty="0">
                <a:latin typeface="Times New Roman" panose="02020603050405020304" pitchFamily="18" charset="0"/>
                <a:cs typeface="Times New Roman" panose="02020603050405020304" pitchFamily="18" charset="0"/>
              </a:rPr>
            </a:br>
            <a:r>
              <a:rPr lang="en-US" sz="1200" dirty="0">
                <a:latin typeface="Times New Roman" panose="02020603050405020304" pitchFamily="18" charset="0"/>
                <a:cs typeface="Times New Roman" panose="02020603050405020304" pitchFamily="18" charset="0"/>
              </a:rPr>
              <a:t>Age: 23 years</a:t>
            </a:r>
            <a:br>
              <a:rPr lang="en-US" sz="1200" dirty="0">
                <a:latin typeface="Times New Roman" panose="02020603050405020304" pitchFamily="18" charset="0"/>
                <a:cs typeface="Times New Roman" panose="02020603050405020304" pitchFamily="18" charset="0"/>
              </a:rPr>
            </a:br>
            <a:r>
              <a:rPr lang="en-US" sz="1200" dirty="0">
                <a:latin typeface="Times New Roman" panose="02020603050405020304" pitchFamily="18" charset="0"/>
                <a:cs typeface="Times New Roman" panose="02020603050405020304" pitchFamily="18" charset="0"/>
              </a:rPr>
              <a:t>Nationality: South </a:t>
            </a:r>
            <a:r>
              <a:rPr lang="en-US" sz="1200" dirty="0" smtClean="0">
                <a:latin typeface="Times New Roman" panose="02020603050405020304" pitchFamily="18" charset="0"/>
                <a:cs typeface="Times New Roman" panose="02020603050405020304" pitchFamily="18" charset="0"/>
              </a:rPr>
              <a:t>African</a:t>
            </a:r>
          </a:p>
          <a:p>
            <a:r>
              <a:rPr lang="en-US" sz="1200" dirty="0" smtClean="0">
                <a:latin typeface="Times New Roman" panose="02020603050405020304" pitchFamily="18" charset="0"/>
                <a:cs typeface="Times New Roman" panose="02020603050405020304" pitchFamily="18" charset="0"/>
              </a:rPr>
              <a:t>Club: </a:t>
            </a:r>
            <a:r>
              <a:rPr lang="en-US" sz="1200" dirty="0">
                <a:latin typeface="Times New Roman" panose="02020603050405020304" pitchFamily="18" charset="0"/>
                <a:cs typeface="Times New Roman" panose="02020603050405020304" pitchFamily="18" charset="0"/>
              </a:rPr>
              <a:t>Mamelodi Sundowns </a:t>
            </a:r>
            <a:r>
              <a:rPr lang="en-US" sz="1200" dirty="0" smtClean="0">
                <a:latin typeface="Times New Roman" panose="02020603050405020304" pitchFamily="18" charset="0"/>
                <a:cs typeface="Times New Roman" panose="02020603050405020304" pitchFamily="18" charset="0"/>
              </a:rPr>
              <a:t>Ladies FC</a:t>
            </a:r>
            <a:r>
              <a:rPr lang="en-US" sz="1200" dirty="0">
                <a:latin typeface="Times New Roman" panose="02020603050405020304" pitchFamily="18" charset="0"/>
                <a:cs typeface="Times New Roman" panose="02020603050405020304" pitchFamily="18" charset="0"/>
              </a:rPr>
              <a:t/>
            </a:r>
            <a:br>
              <a:rPr lang="en-US" sz="1200" dirty="0">
                <a:latin typeface="Times New Roman" panose="02020603050405020304" pitchFamily="18" charset="0"/>
                <a:cs typeface="Times New Roman" panose="02020603050405020304" pitchFamily="18" charset="0"/>
              </a:rPr>
            </a:br>
            <a:r>
              <a:rPr lang="en-US" sz="1200" dirty="0">
                <a:latin typeface="Times New Roman" panose="02020603050405020304" pitchFamily="18" charset="0"/>
                <a:cs typeface="Times New Roman" panose="02020603050405020304" pitchFamily="18" charset="0"/>
              </a:rPr>
              <a:t>Primary Position: Midfielder </a:t>
            </a:r>
            <a:endParaRPr lang="en-US" sz="1200" dirty="0" smtClean="0">
              <a:latin typeface="Times New Roman" panose="02020603050405020304" pitchFamily="18" charset="0"/>
              <a:cs typeface="Times New Roman" panose="02020603050405020304" pitchFamily="18" charset="0"/>
            </a:endParaRPr>
          </a:p>
          <a:p>
            <a:r>
              <a:rPr lang="en-US" sz="1200" dirty="0" smtClean="0">
                <a:latin typeface="Times New Roman" panose="02020603050405020304" pitchFamily="18" charset="0"/>
                <a:cs typeface="Times New Roman" panose="02020603050405020304" pitchFamily="18" charset="0"/>
              </a:rPr>
              <a:t>Height: 1.69m</a:t>
            </a:r>
          </a:p>
          <a:p>
            <a:r>
              <a:rPr lang="en-US" sz="1200" dirty="0">
                <a:latin typeface="Times New Roman" panose="02020603050405020304" pitchFamily="18" charset="0"/>
                <a:cs typeface="Times New Roman" panose="02020603050405020304" pitchFamily="18" charset="0"/>
              </a:rPr>
              <a:t>Preferred Foot: Not specified</a:t>
            </a:r>
            <a:br>
              <a:rPr lang="en-US" sz="1200" dirty="0">
                <a:latin typeface="Times New Roman" panose="02020603050405020304" pitchFamily="18" charset="0"/>
                <a:cs typeface="Times New Roman" panose="02020603050405020304" pitchFamily="18" charset="0"/>
              </a:rPr>
            </a:br>
            <a:r>
              <a:rPr lang="en-US" sz="1200" dirty="0">
                <a:latin typeface="Times New Roman" panose="02020603050405020304" pitchFamily="18" charset="0"/>
                <a:cs typeface="Times New Roman" panose="02020603050405020304" pitchFamily="18" charset="0"/>
              </a:rPr>
              <a:t>Contract Status: Joined 2025</a:t>
            </a:r>
            <a:endParaRPr lang="en-US" sz="1200" dirty="0" smtClean="0">
              <a:latin typeface="Times New Roman" panose="02020603050405020304" pitchFamily="18" charset="0"/>
              <a:cs typeface="Times New Roman" panose="02020603050405020304" pitchFamily="18" charset="0"/>
            </a:endParaRPr>
          </a:p>
          <a:p>
            <a:endParaRPr lang="en-US" sz="1200" dirty="0">
              <a:latin typeface="Times New Roman" panose="02020603050405020304" pitchFamily="18" charset="0"/>
              <a:cs typeface="Times New Roman" panose="02020603050405020304" pitchFamily="18" charset="0"/>
            </a:endParaRPr>
          </a:p>
          <a:p>
            <a:r>
              <a:rPr lang="en-US" sz="1200" dirty="0" smtClean="0">
                <a:latin typeface="Times New Roman" panose="02020603050405020304" pitchFamily="18" charset="0"/>
                <a:cs typeface="Times New Roman" panose="02020603050405020304" pitchFamily="18" charset="0"/>
              </a:rPr>
              <a:t>2026-01-02</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endParaRPr lang="en-US" dirty="0"/>
          </a:p>
        </p:txBody>
      </p:sp>
      <p:sp>
        <p:nvSpPr>
          <p:cNvPr id="22" name="TextBox 21"/>
          <p:cNvSpPr txBox="1"/>
          <p:nvPr/>
        </p:nvSpPr>
        <p:spPr>
          <a:xfrm>
            <a:off x="2574241" y="3255793"/>
            <a:ext cx="4402644" cy="400110"/>
          </a:xfrm>
          <a:prstGeom prst="rect">
            <a:avLst/>
          </a:prstGeom>
          <a:noFill/>
        </p:spPr>
        <p:txBody>
          <a:bodyPr wrap="square" rtlCol="0">
            <a:spAutoFit/>
          </a:bodyPr>
          <a:lstStyle/>
          <a:p>
            <a:r>
              <a:rPr lang="en-US" sz="2000" b="1" dirty="0" smtClean="0">
                <a:solidFill>
                  <a:srgbClr val="FFFF00"/>
                </a:solidFill>
                <a:latin typeface="Times New Roman" panose="02020603050405020304" pitchFamily="18" charset="0"/>
                <a:cs typeface="Times New Roman" panose="02020603050405020304" pitchFamily="18" charset="0"/>
              </a:rPr>
              <a:t>INTELLIGENCE EVALUATION</a:t>
            </a:r>
            <a:endParaRPr lang="en-US" sz="2000" b="1" dirty="0">
              <a:solidFill>
                <a:srgbClr val="FFFF00"/>
              </a:solidFill>
              <a:latin typeface="Times New Roman" panose="02020603050405020304" pitchFamily="18" charset="0"/>
              <a:cs typeface="Times New Roman" panose="02020603050405020304" pitchFamily="18" charset="0"/>
            </a:endParaRPr>
          </a:p>
        </p:txBody>
      </p:sp>
      <p:sp>
        <p:nvSpPr>
          <p:cNvPr id="24" name="TextBox 23"/>
          <p:cNvSpPr txBox="1"/>
          <p:nvPr/>
        </p:nvSpPr>
        <p:spPr>
          <a:xfrm>
            <a:off x="2600894" y="3728205"/>
            <a:ext cx="4631244" cy="2585323"/>
          </a:xfrm>
          <a:prstGeom prst="rect">
            <a:avLst/>
          </a:prstGeom>
          <a:solidFill>
            <a:schemeClr val="tx1"/>
          </a:solidFill>
        </p:spPr>
        <p:txBody>
          <a:bodyPr wrap="square" rtlCol="0">
            <a:spAutoFit/>
          </a:bodyPr>
          <a:lstStyle/>
          <a:p>
            <a:pPr marL="285750" lvl="0" indent="-285750">
              <a:buFont typeface="Arial" panose="020B0604020202020204" pitchFamily="34" charset="0"/>
              <a:buChar char="•"/>
            </a:pPr>
            <a:r>
              <a:rPr lang="en-US" dirty="0" smtClean="0">
                <a:solidFill>
                  <a:schemeClr val="bg1"/>
                </a:solidFill>
                <a:latin typeface="Times New Roman" panose="02020603050405020304" pitchFamily="18" charset="0"/>
                <a:cs typeface="Times New Roman" panose="02020603050405020304" pitchFamily="18" charset="0"/>
              </a:rPr>
              <a:t>Adapts </a:t>
            </a:r>
            <a:r>
              <a:rPr lang="en-US" dirty="0">
                <a:solidFill>
                  <a:schemeClr val="bg1"/>
                </a:solidFill>
                <a:latin typeface="Times New Roman" panose="02020603050405020304" pitchFamily="18" charset="0"/>
                <a:cs typeface="Times New Roman" panose="02020603050405020304" pitchFamily="18" charset="0"/>
              </a:rPr>
              <a:t>well between central and advanced roles, contributing both in build-up and recovery phases</a:t>
            </a:r>
            <a:r>
              <a:rPr lang="en-US" dirty="0" smtClean="0">
                <a:solidFill>
                  <a:schemeClr val="bg1"/>
                </a:solidFill>
                <a:latin typeface="Times New Roman" panose="02020603050405020304" pitchFamily="18" charset="0"/>
                <a:cs typeface="Times New Roman" panose="02020603050405020304" pitchFamily="18" charset="0"/>
              </a:rPr>
              <a:t>.</a:t>
            </a:r>
          </a:p>
          <a:p>
            <a:pPr marL="285750" indent="-285750">
              <a:buFont typeface="Arial" panose="020B0604020202020204" pitchFamily="34" charset="0"/>
              <a:buChar char="•"/>
            </a:pPr>
            <a:r>
              <a:rPr lang="en-US" dirty="0">
                <a:solidFill>
                  <a:schemeClr val="bg1"/>
                </a:solidFill>
                <a:latin typeface="Times New Roman" panose="02020603050405020304" pitchFamily="18" charset="0"/>
                <a:cs typeface="Times New Roman" panose="02020603050405020304" pitchFamily="18" charset="0"/>
              </a:rPr>
              <a:t>Executes the central midfield role effectively, maintaining structure and balance within the team shape.</a:t>
            </a:r>
          </a:p>
          <a:p>
            <a:pPr marL="285750" lvl="0" indent="-285750">
              <a:buFont typeface="Arial" panose="020B0604020202020204" pitchFamily="34" charset="0"/>
              <a:buChar char="•"/>
            </a:pPr>
            <a:endParaRPr lang="en-US" dirty="0">
              <a:solidFill>
                <a:schemeClr val="bg1"/>
              </a:solidFill>
              <a:latin typeface="Times New Roman" panose="02020603050405020304" pitchFamily="18" charset="0"/>
              <a:cs typeface="Times New Roman" panose="02020603050405020304" pitchFamily="18" charset="0"/>
            </a:endParaRPr>
          </a:p>
          <a:p>
            <a:endParaRPr lang="en-US" dirty="0" smtClean="0"/>
          </a:p>
          <a:p>
            <a:endParaRPr lang="en-US" dirty="0"/>
          </a:p>
        </p:txBody>
      </p:sp>
      <p:sp>
        <p:nvSpPr>
          <p:cNvPr id="11" name="TextBox 10"/>
          <p:cNvSpPr txBox="1"/>
          <p:nvPr/>
        </p:nvSpPr>
        <p:spPr>
          <a:xfrm>
            <a:off x="2511762" y="529085"/>
            <a:ext cx="4696559" cy="2585323"/>
          </a:xfrm>
          <a:prstGeom prst="rect">
            <a:avLst/>
          </a:prstGeom>
          <a:solidFill>
            <a:schemeClr val="tx1"/>
          </a:solidFill>
        </p:spPr>
        <p:txBody>
          <a:bodyPr wrap="square" rtlCol="0">
            <a:spAutoFit/>
          </a:bodyPr>
          <a:lstStyle/>
          <a:p>
            <a:pPr marL="285750" lvl="0" indent="-285750">
              <a:buFont typeface="Arial" panose="020B0604020202020204" pitchFamily="34" charset="0"/>
              <a:buChar char="•"/>
            </a:pPr>
            <a:r>
              <a:rPr lang="en-US" dirty="0">
                <a:solidFill>
                  <a:schemeClr val="bg1"/>
                </a:solidFill>
                <a:latin typeface="Times New Roman" panose="02020603050405020304" pitchFamily="18" charset="0"/>
                <a:cs typeface="Times New Roman" panose="02020603050405020304" pitchFamily="18" charset="0"/>
              </a:rPr>
              <a:t>Comfortable shielding the ball and confident when in possession, retaining control under pressure.</a:t>
            </a:r>
          </a:p>
          <a:p>
            <a:pPr marL="285750" lvl="0" indent="-285750">
              <a:buFont typeface="Arial" panose="020B0604020202020204" pitchFamily="34" charset="0"/>
              <a:buChar char="•"/>
            </a:pPr>
            <a:r>
              <a:rPr lang="en-US" dirty="0">
                <a:solidFill>
                  <a:schemeClr val="bg1"/>
                </a:solidFill>
                <a:latin typeface="Times New Roman" panose="02020603050405020304" pitchFamily="18" charset="0"/>
                <a:cs typeface="Times New Roman" panose="02020603050405020304" pitchFamily="18" charset="0"/>
              </a:rPr>
              <a:t>Moves into attacking areas swiftly, with good timing when arriving in the box and awareness of space.</a:t>
            </a:r>
          </a:p>
          <a:p>
            <a:pPr marL="285750" lvl="0" indent="-285750">
              <a:buFont typeface="Arial" panose="020B0604020202020204" pitchFamily="34" charset="0"/>
              <a:buChar char="•"/>
            </a:pPr>
            <a:r>
              <a:rPr lang="en-US" dirty="0">
                <a:solidFill>
                  <a:schemeClr val="bg1"/>
                </a:solidFill>
                <a:latin typeface="Times New Roman" panose="02020603050405020304" pitchFamily="18" charset="0"/>
                <a:cs typeface="Times New Roman" panose="02020603050405020304" pitchFamily="18" charset="0"/>
              </a:rPr>
              <a:t>Consistently winning duels, strong defensive technique, recovers possession easily, and effective in midfield defensive phases.</a:t>
            </a:r>
          </a:p>
        </p:txBody>
      </p:sp>
      <p:sp>
        <p:nvSpPr>
          <p:cNvPr id="12" name="TextBox 11"/>
          <p:cNvSpPr txBox="1"/>
          <p:nvPr/>
        </p:nvSpPr>
        <p:spPr>
          <a:xfrm>
            <a:off x="7448797" y="529085"/>
            <a:ext cx="4604658" cy="2585323"/>
          </a:xfrm>
          <a:prstGeom prst="rect">
            <a:avLst/>
          </a:prstGeom>
          <a:solidFill>
            <a:schemeClr val="tx1"/>
          </a:solidFill>
        </p:spPr>
        <p:txBody>
          <a:bodyPr wrap="square" rtlCol="0">
            <a:spAutoFit/>
          </a:bodyPr>
          <a:lstStyle/>
          <a:p>
            <a:pPr marL="285750" lvl="0" indent="-285750">
              <a:buFont typeface="Arial" panose="020B0604020202020204" pitchFamily="34" charset="0"/>
              <a:buChar char="•"/>
            </a:pPr>
            <a:r>
              <a:rPr lang="en-US" dirty="0">
                <a:solidFill>
                  <a:schemeClr val="bg1"/>
                </a:solidFill>
                <a:latin typeface="Times New Roman" panose="02020603050405020304" pitchFamily="18" charset="0"/>
                <a:cs typeface="Times New Roman" panose="02020603050405020304" pitchFamily="18" charset="0"/>
              </a:rPr>
              <a:t>High stamina and work rate, maintaining activity and intensity throughout the match.</a:t>
            </a:r>
          </a:p>
          <a:p>
            <a:pPr marL="285750" lvl="0" indent="-285750">
              <a:buFont typeface="Arial" panose="020B0604020202020204" pitchFamily="34" charset="0"/>
              <a:buChar char="•"/>
            </a:pPr>
            <a:r>
              <a:rPr lang="en-US" dirty="0">
                <a:solidFill>
                  <a:schemeClr val="bg1"/>
                </a:solidFill>
                <a:latin typeface="Times New Roman" panose="02020603050405020304" pitchFamily="18" charset="0"/>
                <a:cs typeface="Times New Roman" panose="02020603050405020304" pitchFamily="18" charset="0"/>
              </a:rPr>
              <a:t>She has good speed and strong agility, enabling effective movement across midfield areas.</a:t>
            </a:r>
          </a:p>
          <a:p>
            <a:pPr marL="285750" lvl="0" indent="-285750">
              <a:buFont typeface="Arial" panose="020B0604020202020204" pitchFamily="34" charset="0"/>
              <a:buChar char="•"/>
            </a:pPr>
            <a:r>
              <a:rPr lang="en-US" dirty="0">
                <a:solidFill>
                  <a:schemeClr val="bg1"/>
                </a:solidFill>
                <a:latin typeface="Times New Roman" panose="02020603050405020304" pitchFamily="18" charset="0"/>
                <a:cs typeface="Times New Roman" panose="02020603050405020304" pitchFamily="18" charset="0"/>
              </a:rPr>
              <a:t>Physically strong and competitive in duels, uses her body orientation well to protect the ball.</a:t>
            </a:r>
          </a:p>
          <a:p>
            <a:endParaRPr lang="en-US" dirty="0"/>
          </a:p>
        </p:txBody>
      </p:sp>
      <p:sp>
        <p:nvSpPr>
          <p:cNvPr id="13" name="TextBox 12"/>
          <p:cNvSpPr txBox="1"/>
          <p:nvPr/>
        </p:nvSpPr>
        <p:spPr>
          <a:xfrm>
            <a:off x="7448798" y="3728205"/>
            <a:ext cx="4465122" cy="2585323"/>
          </a:xfrm>
          <a:prstGeom prst="rect">
            <a:avLst/>
          </a:prstGeom>
          <a:solidFill>
            <a:schemeClr val="tx1"/>
          </a:solidFill>
        </p:spPr>
        <p:txBody>
          <a:bodyPr wrap="square" rtlCol="0">
            <a:spAutoFit/>
          </a:bodyPr>
          <a:lstStyle/>
          <a:p>
            <a:pPr marL="285750" lvl="0" indent="-285750">
              <a:buFont typeface="Arial" panose="020B0604020202020204" pitchFamily="34" charset="0"/>
              <a:buChar char="•"/>
            </a:pPr>
            <a:r>
              <a:rPr lang="en-US" dirty="0">
                <a:solidFill>
                  <a:schemeClr val="bg1"/>
                </a:solidFill>
                <a:latin typeface="Times New Roman" panose="02020603050405020304" pitchFamily="18" charset="0"/>
                <a:cs typeface="Times New Roman" panose="02020603050405020304" pitchFamily="18" charset="0"/>
              </a:rPr>
              <a:t>Displays a proactive and competitive mentality, as she engages in both offensive and defensive phases.</a:t>
            </a:r>
          </a:p>
          <a:p>
            <a:pPr marL="285750" lvl="0" indent="-285750">
              <a:buFont typeface="Arial" panose="020B0604020202020204" pitchFamily="34" charset="0"/>
              <a:buChar char="•"/>
            </a:pPr>
            <a:r>
              <a:rPr lang="en-US" dirty="0">
                <a:solidFill>
                  <a:schemeClr val="bg1"/>
                </a:solidFill>
                <a:latin typeface="Times New Roman" panose="02020603050405020304" pitchFamily="18" charset="0"/>
                <a:cs typeface="Times New Roman" panose="02020603050405020304" pitchFamily="18" charset="0"/>
              </a:rPr>
              <a:t>She is tactically aware, and highly coachable. Emotionally composed as she maintains discipline in high-pressure situations. </a:t>
            </a:r>
          </a:p>
          <a:p>
            <a:pPr marL="285750" lvl="0" indent="-285750">
              <a:buFont typeface="Arial" panose="020B0604020202020204" pitchFamily="34" charset="0"/>
              <a:buChar char="•"/>
            </a:pPr>
            <a:r>
              <a:rPr lang="en-US" dirty="0">
                <a:solidFill>
                  <a:schemeClr val="bg1"/>
                </a:solidFill>
                <a:latin typeface="Times New Roman" panose="02020603050405020304" pitchFamily="18" charset="0"/>
                <a:cs typeface="Times New Roman" panose="02020603050405020304" pitchFamily="18" charset="0"/>
              </a:rPr>
              <a:t>Communicates effectively on the pitch.</a:t>
            </a:r>
          </a:p>
          <a:p>
            <a:endParaRPr lang="en-US" dirty="0"/>
          </a:p>
        </p:txBody>
      </p:sp>
      <p:sp>
        <p:nvSpPr>
          <p:cNvPr id="14" name="TextBox 13"/>
          <p:cNvSpPr txBox="1"/>
          <p:nvPr/>
        </p:nvSpPr>
        <p:spPr>
          <a:xfrm>
            <a:off x="2511763" y="128975"/>
            <a:ext cx="3776353" cy="400110"/>
          </a:xfrm>
          <a:prstGeom prst="rect">
            <a:avLst/>
          </a:prstGeom>
          <a:noFill/>
        </p:spPr>
        <p:txBody>
          <a:bodyPr wrap="square" rtlCol="0">
            <a:spAutoFit/>
          </a:bodyPr>
          <a:lstStyle/>
          <a:p>
            <a:r>
              <a:rPr lang="en-US" sz="2000" b="1" dirty="0" smtClean="0">
                <a:solidFill>
                  <a:srgbClr val="FFFF00"/>
                </a:solidFill>
                <a:latin typeface="Times New Roman" panose="02020603050405020304" pitchFamily="18" charset="0"/>
                <a:cs typeface="Times New Roman" panose="02020603050405020304" pitchFamily="18" charset="0"/>
              </a:rPr>
              <a:t>TECHNICAL EVALUATION</a:t>
            </a:r>
            <a:endParaRPr lang="en-US" sz="2000" b="1" dirty="0">
              <a:solidFill>
                <a:srgbClr val="FFFF00"/>
              </a:solidFill>
              <a:latin typeface="Times New Roman" panose="02020603050405020304" pitchFamily="18" charset="0"/>
              <a:cs typeface="Times New Roman" panose="02020603050405020304" pitchFamily="18" charset="0"/>
            </a:endParaRPr>
          </a:p>
        </p:txBody>
      </p:sp>
      <p:sp>
        <p:nvSpPr>
          <p:cNvPr id="15" name="TextBox 14"/>
          <p:cNvSpPr txBox="1"/>
          <p:nvPr/>
        </p:nvSpPr>
        <p:spPr>
          <a:xfrm>
            <a:off x="7793182" y="163375"/>
            <a:ext cx="3776353" cy="400110"/>
          </a:xfrm>
          <a:prstGeom prst="rect">
            <a:avLst/>
          </a:prstGeom>
          <a:noFill/>
        </p:spPr>
        <p:txBody>
          <a:bodyPr wrap="square" rtlCol="0">
            <a:spAutoFit/>
          </a:bodyPr>
          <a:lstStyle/>
          <a:p>
            <a:r>
              <a:rPr lang="en-US" sz="2000" b="1" dirty="0" smtClean="0">
                <a:solidFill>
                  <a:srgbClr val="FFFF00"/>
                </a:solidFill>
                <a:latin typeface="Times New Roman" panose="02020603050405020304" pitchFamily="18" charset="0"/>
                <a:cs typeface="Times New Roman" panose="02020603050405020304" pitchFamily="18" charset="0"/>
              </a:rPr>
              <a:t>PHYSICAL EVALUATION</a:t>
            </a:r>
            <a:endParaRPr lang="en-US" sz="2000" b="1" dirty="0">
              <a:solidFill>
                <a:srgbClr val="FFFF00"/>
              </a:solidFill>
              <a:latin typeface="Times New Roman" panose="02020603050405020304" pitchFamily="18" charset="0"/>
              <a:cs typeface="Times New Roman" panose="02020603050405020304" pitchFamily="18" charset="0"/>
            </a:endParaRPr>
          </a:p>
        </p:txBody>
      </p:sp>
      <p:sp>
        <p:nvSpPr>
          <p:cNvPr id="16" name="TextBox 15"/>
          <p:cNvSpPr txBox="1"/>
          <p:nvPr/>
        </p:nvSpPr>
        <p:spPr>
          <a:xfrm>
            <a:off x="7689272" y="3255793"/>
            <a:ext cx="4224648" cy="400110"/>
          </a:xfrm>
          <a:prstGeom prst="rect">
            <a:avLst/>
          </a:prstGeom>
          <a:noFill/>
        </p:spPr>
        <p:txBody>
          <a:bodyPr wrap="square" rtlCol="0">
            <a:spAutoFit/>
          </a:bodyPr>
          <a:lstStyle/>
          <a:p>
            <a:r>
              <a:rPr lang="en-US" sz="2000" b="1" dirty="0" smtClean="0">
                <a:solidFill>
                  <a:srgbClr val="FFFF00"/>
                </a:solidFill>
                <a:latin typeface="Times New Roman" panose="02020603050405020304" pitchFamily="18" charset="0"/>
                <a:cs typeface="Times New Roman" panose="02020603050405020304" pitchFamily="18" charset="0"/>
              </a:rPr>
              <a:t>PSYCHOLOGICAL EVALUATION</a:t>
            </a:r>
            <a:endParaRPr lang="en-US" sz="2000" b="1" dirty="0">
              <a:solidFill>
                <a:srgbClr val="FFFF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9744798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0" y="0"/>
            <a:ext cx="2143760" cy="1899920"/>
          </a:xfrm>
        </p:spPr>
      </p:pic>
      <p:sp>
        <p:nvSpPr>
          <p:cNvPr id="4" name="Rectangle 3"/>
          <p:cNvSpPr/>
          <p:nvPr/>
        </p:nvSpPr>
        <p:spPr>
          <a:xfrm>
            <a:off x="0" y="1899920"/>
            <a:ext cx="2143760" cy="4958080"/>
          </a:xfrm>
          <a:prstGeom prst="rect">
            <a:avLst/>
          </a:prstGeom>
          <a:no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p:cNvSpPr txBox="1"/>
          <p:nvPr/>
        </p:nvSpPr>
        <p:spPr>
          <a:xfrm>
            <a:off x="0" y="2255520"/>
            <a:ext cx="2143760" cy="2400657"/>
          </a:xfrm>
          <a:prstGeom prst="rect">
            <a:avLst/>
          </a:prstGeom>
          <a:noFill/>
        </p:spPr>
        <p:txBody>
          <a:bodyPr wrap="square" rtlCol="0">
            <a:spAutoFit/>
          </a:bodyPr>
          <a:lstStyle/>
          <a:p>
            <a:r>
              <a:rPr lang="en-US" sz="1200" dirty="0">
                <a:latin typeface="Times New Roman" panose="02020603050405020304" pitchFamily="18" charset="0"/>
                <a:cs typeface="Times New Roman" panose="02020603050405020304" pitchFamily="18" charset="0"/>
              </a:rPr>
              <a:t>Player Name: Isabella Ludwig</a:t>
            </a:r>
            <a:br>
              <a:rPr lang="en-US" sz="1200" dirty="0">
                <a:latin typeface="Times New Roman" panose="02020603050405020304" pitchFamily="18" charset="0"/>
                <a:cs typeface="Times New Roman" panose="02020603050405020304" pitchFamily="18" charset="0"/>
              </a:rPr>
            </a:br>
            <a:r>
              <a:rPr lang="en-US" sz="1200" dirty="0">
                <a:latin typeface="Times New Roman" panose="02020603050405020304" pitchFamily="18" charset="0"/>
                <a:cs typeface="Times New Roman" panose="02020603050405020304" pitchFamily="18" charset="0"/>
              </a:rPr>
              <a:t>Age: 23 years</a:t>
            </a:r>
            <a:br>
              <a:rPr lang="en-US" sz="1200" dirty="0">
                <a:latin typeface="Times New Roman" panose="02020603050405020304" pitchFamily="18" charset="0"/>
                <a:cs typeface="Times New Roman" panose="02020603050405020304" pitchFamily="18" charset="0"/>
              </a:rPr>
            </a:br>
            <a:r>
              <a:rPr lang="en-US" sz="1200" dirty="0">
                <a:latin typeface="Times New Roman" panose="02020603050405020304" pitchFamily="18" charset="0"/>
                <a:cs typeface="Times New Roman" panose="02020603050405020304" pitchFamily="18" charset="0"/>
              </a:rPr>
              <a:t>Nationality: South </a:t>
            </a:r>
            <a:r>
              <a:rPr lang="en-US" sz="1200" dirty="0" smtClean="0">
                <a:latin typeface="Times New Roman" panose="02020603050405020304" pitchFamily="18" charset="0"/>
                <a:cs typeface="Times New Roman" panose="02020603050405020304" pitchFamily="18" charset="0"/>
              </a:rPr>
              <a:t>African</a:t>
            </a:r>
          </a:p>
          <a:p>
            <a:r>
              <a:rPr lang="en-US" sz="1200" dirty="0" smtClean="0">
                <a:latin typeface="Times New Roman" panose="02020603050405020304" pitchFamily="18" charset="0"/>
                <a:cs typeface="Times New Roman" panose="02020603050405020304" pitchFamily="18" charset="0"/>
              </a:rPr>
              <a:t>Club: </a:t>
            </a:r>
            <a:r>
              <a:rPr lang="en-US" sz="1200" dirty="0">
                <a:latin typeface="Times New Roman" panose="02020603050405020304" pitchFamily="18" charset="0"/>
                <a:cs typeface="Times New Roman" panose="02020603050405020304" pitchFamily="18" charset="0"/>
              </a:rPr>
              <a:t>Mamelodi Sundowns </a:t>
            </a:r>
            <a:r>
              <a:rPr lang="en-US" sz="1200" dirty="0" smtClean="0">
                <a:latin typeface="Times New Roman" panose="02020603050405020304" pitchFamily="18" charset="0"/>
                <a:cs typeface="Times New Roman" panose="02020603050405020304" pitchFamily="18" charset="0"/>
              </a:rPr>
              <a:t>Ladies FC</a:t>
            </a:r>
            <a:r>
              <a:rPr lang="en-US" sz="1200" dirty="0">
                <a:latin typeface="Times New Roman" panose="02020603050405020304" pitchFamily="18" charset="0"/>
                <a:cs typeface="Times New Roman" panose="02020603050405020304" pitchFamily="18" charset="0"/>
              </a:rPr>
              <a:t/>
            </a:r>
            <a:br>
              <a:rPr lang="en-US" sz="1200" dirty="0">
                <a:latin typeface="Times New Roman" panose="02020603050405020304" pitchFamily="18" charset="0"/>
                <a:cs typeface="Times New Roman" panose="02020603050405020304" pitchFamily="18" charset="0"/>
              </a:rPr>
            </a:br>
            <a:r>
              <a:rPr lang="en-US" sz="1200" dirty="0">
                <a:latin typeface="Times New Roman" panose="02020603050405020304" pitchFamily="18" charset="0"/>
                <a:cs typeface="Times New Roman" panose="02020603050405020304" pitchFamily="18" charset="0"/>
              </a:rPr>
              <a:t>Primary Position: Midfielder </a:t>
            </a:r>
            <a:endParaRPr lang="en-US" sz="1200" dirty="0" smtClean="0">
              <a:latin typeface="Times New Roman" panose="02020603050405020304" pitchFamily="18" charset="0"/>
              <a:cs typeface="Times New Roman" panose="02020603050405020304" pitchFamily="18" charset="0"/>
            </a:endParaRPr>
          </a:p>
          <a:p>
            <a:r>
              <a:rPr lang="en-US" sz="1200" dirty="0" smtClean="0">
                <a:latin typeface="Times New Roman" panose="02020603050405020304" pitchFamily="18" charset="0"/>
                <a:cs typeface="Times New Roman" panose="02020603050405020304" pitchFamily="18" charset="0"/>
              </a:rPr>
              <a:t>Height: 1.69m</a:t>
            </a:r>
          </a:p>
          <a:p>
            <a:r>
              <a:rPr lang="en-US" sz="1200" dirty="0">
                <a:latin typeface="Times New Roman" panose="02020603050405020304" pitchFamily="18" charset="0"/>
                <a:cs typeface="Times New Roman" panose="02020603050405020304" pitchFamily="18" charset="0"/>
              </a:rPr>
              <a:t>Preferred Foot: Not specified</a:t>
            </a:r>
            <a:br>
              <a:rPr lang="en-US" sz="1200" dirty="0">
                <a:latin typeface="Times New Roman" panose="02020603050405020304" pitchFamily="18" charset="0"/>
                <a:cs typeface="Times New Roman" panose="02020603050405020304" pitchFamily="18" charset="0"/>
              </a:rPr>
            </a:br>
            <a:r>
              <a:rPr lang="en-US" sz="1200" dirty="0">
                <a:latin typeface="Times New Roman" panose="02020603050405020304" pitchFamily="18" charset="0"/>
                <a:cs typeface="Times New Roman" panose="02020603050405020304" pitchFamily="18" charset="0"/>
              </a:rPr>
              <a:t>Contract Status: Joined 2025</a:t>
            </a:r>
            <a:endParaRPr lang="en-US" sz="1200" dirty="0" smtClean="0">
              <a:latin typeface="Times New Roman" panose="02020603050405020304" pitchFamily="18" charset="0"/>
              <a:cs typeface="Times New Roman" panose="02020603050405020304" pitchFamily="18" charset="0"/>
            </a:endParaRPr>
          </a:p>
          <a:p>
            <a:endParaRPr lang="en-US" sz="1200" dirty="0">
              <a:latin typeface="Times New Roman" panose="02020603050405020304" pitchFamily="18" charset="0"/>
              <a:cs typeface="Times New Roman" panose="02020603050405020304" pitchFamily="18" charset="0"/>
            </a:endParaRPr>
          </a:p>
          <a:p>
            <a:r>
              <a:rPr lang="en-US" sz="1200" dirty="0" smtClean="0">
                <a:latin typeface="Times New Roman" panose="02020603050405020304" pitchFamily="18" charset="0"/>
                <a:cs typeface="Times New Roman" panose="02020603050405020304" pitchFamily="18" charset="0"/>
              </a:rPr>
              <a:t>2026-01-02</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endParaRPr lang="en-US" dirty="0"/>
          </a:p>
        </p:txBody>
      </p:sp>
      <p:sp>
        <p:nvSpPr>
          <p:cNvPr id="22" name="TextBox 21"/>
          <p:cNvSpPr txBox="1"/>
          <p:nvPr/>
        </p:nvSpPr>
        <p:spPr>
          <a:xfrm>
            <a:off x="2511762" y="3417535"/>
            <a:ext cx="5334725" cy="477054"/>
          </a:xfrm>
          <a:prstGeom prst="rect">
            <a:avLst/>
          </a:prstGeom>
          <a:noFill/>
        </p:spPr>
        <p:txBody>
          <a:bodyPr wrap="square" rtlCol="0">
            <a:spAutoFit/>
          </a:bodyPr>
          <a:lstStyle/>
          <a:p>
            <a:r>
              <a:rPr lang="en-US" sz="2500" b="1" dirty="0" smtClean="0">
                <a:solidFill>
                  <a:srgbClr val="FFFF00"/>
                </a:solidFill>
                <a:latin typeface="Times New Roman" panose="02020603050405020304" pitchFamily="18" charset="0"/>
                <a:cs typeface="Times New Roman" panose="02020603050405020304" pitchFamily="18" charset="0"/>
              </a:rPr>
              <a:t>DEFENSIVE CONTRIBUTION</a:t>
            </a:r>
            <a:endParaRPr lang="en-US" sz="2500" b="1" dirty="0">
              <a:solidFill>
                <a:srgbClr val="FFFF00"/>
              </a:solidFill>
              <a:latin typeface="Times New Roman" panose="02020603050405020304" pitchFamily="18" charset="0"/>
              <a:cs typeface="Times New Roman" panose="02020603050405020304" pitchFamily="18" charset="0"/>
            </a:endParaRPr>
          </a:p>
        </p:txBody>
      </p:sp>
      <p:sp>
        <p:nvSpPr>
          <p:cNvPr id="24" name="TextBox 23"/>
          <p:cNvSpPr txBox="1"/>
          <p:nvPr/>
        </p:nvSpPr>
        <p:spPr>
          <a:xfrm>
            <a:off x="2511762" y="3965712"/>
            <a:ext cx="9363562" cy="2631490"/>
          </a:xfrm>
          <a:prstGeom prst="rect">
            <a:avLst/>
          </a:prstGeom>
          <a:solidFill>
            <a:schemeClr val="tx1"/>
          </a:solidFill>
        </p:spPr>
        <p:txBody>
          <a:bodyPr wrap="square" rtlCol="0">
            <a:spAutoFit/>
          </a:bodyPr>
          <a:lstStyle/>
          <a:p>
            <a:pPr marL="285750" lvl="0" indent="-285750">
              <a:buFont typeface="Arial" panose="020B0604020202020204" pitchFamily="34" charset="0"/>
              <a:buChar char="•"/>
            </a:pPr>
            <a:r>
              <a:rPr lang="en-US" altLang="en-US" sz="2100" b="1" dirty="0">
                <a:solidFill>
                  <a:schemeClr val="bg1"/>
                </a:solidFill>
                <a:latin typeface="Times New Roman" panose="02020603050405020304" pitchFamily="18" charset="0"/>
                <a:cs typeface="Times New Roman" panose="02020603050405020304" pitchFamily="18" charset="0"/>
              </a:rPr>
              <a:t>Positional Discipline and Team </a:t>
            </a:r>
            <a:r>
              <a:rPr lang="en-US" altLang="en-US" sz="2100" b="1" dirty="0" smtClean="0">
                <a:solidFill>
                  <a:schemeClr val="bg1"/>
                </a:solidFill>
                <a:latin typeface="Times New Roman" panose="02020603050405020304" pitchFamily="18" charset="0"/>
                <a:cs typeface="Times New Roman" panose="02020603050405020304" pitchFamily="18" charset="0"/>
              </a:rPr>
              <a:t>Cover: </a:t>
            </a:r>
            <a:r>
              <a:rPr lang="en-US" altLang="en-US" sz="2100" dirty="0" smtClean="0">
                <a:solidFill>
                  <a:schemeClr val="bg1"/>
                </a:solidFill>
                <a:latin typeface="Times New Roman" panose="02020603050405020304" pitchFamily="18" charset="0"/>
                <a:cs typeface="Times New Roman" panose="02020603050405020304" pitchFamily="18" charset="0"/>
              </a:rPr>
              <a:t>Maintains </a:t>
            </a:r>
            <a:r>
              <a:rPr lang="en-US" altLang="en-US" sz="2100" dirty="0">
                <a:solidFill>
                  <a:schemeClr val="bg1"/>
                </a:solidFill>
                <a:latin typeface="Times New Roman" panose="02020603050405020304" pitchFamily="18" charset="0"/>
                <a:cs typeface="Times New Roman" panose="02020603050405020304" pitchFamily="18" charset="0"/>
              </a:rPr>
              <a:t>strong defensive positioning, </a:t>
            </a:r>
            <a:r>
              <a:rPr lang="en-US" altLang="en-US" sz="2100" dirty="0" smtClean="0">
                <a:solidFill>
                  <a:schemeClr val="bg1"/>
                </a:solidFill>
                <a:latin typeface="Times New Roman" panose="02020603050405020304" pitchFamily="18" charset="0"/>
                <a:cs typeface="Times New Roman" panose="02020603050405020304" pitchFamily="18" charset="0"/>
              </a:rPr>
              <a:t>covering her teammates </a:t>
            </a:r>
            <a:r>
              <a:rPr lang="en-US" altLang="en-US" sz="2100" dirty="0">
                <a:solidFill>
                  <a:schemeClr val="bg1"/>
                </a:solidFill>
                <a:latin typeface="Times New Roman" panose="02020603050405020304" pitchFamily="18" charset="0"/>
                <a:cs typeface="Times New Roman" panose="02020603050405020304" pitchFamily="18" charset="0"/>
              </a:rPr>
              <a:t>and protecting central spaces during </a:t>
            </a:r>
            <a:r>
              <a:rPr lang="en-US" altLang="en-US" sz="2100" dirty="0" smtClean="0">
                <a:solidFill>
                  <a:schemeClr val="bg1"/>
                </a:solidFill>
                <a:latin typeface="Times New Roman" panose="02020603050405020304" pitchFamily="18" charset="0"/>
                <a:cs typeface="Times New Roman" panose="02020603050405020304" pitchFamily="18" charset="0"/>
              </a:rPr>
              <a:t>defensive phases</a:t>
            </a:r>
            <a:r>
              <a:rPr lang="en-US" sz="2100" dirty="0" smtClean="0">
                <a:solidFill>
                  <a:schemeClr val="bg1"/>
                </a:solidFill>
                <a:latin typeface="Times New Roman" panose="02020603050405020304" pitchFamily="18" charset="0"/>
                <a:cs typeface="Times New Roman" panose="02020603050405020304" pitchFamily="18" charset="0"/>
              </a:rPr>
              <a:t>.  </a:t>
            </a:r>
          </a:p>
          <a:p>
            <a:pPr marL="285750" indent="-285750">
              <a:buFont typeface="Arial" panose="020B0604020202020204" pitchFamily="34" charset="0"/>
              <a:buChar char="•"/>
            </a:pPr>
            <a:r>
              <a:rPr lang="en-US" altLang="en-US" sz="2100" b="1" dirty="0">
                <a:solidFill>
                  <a:schemeClr val="bg1"/>
                </a:solidFill>
                <a:latin typeface="Times New Roman" panose="02020603050405020304" pitchFamily="18" charset="0"/>
                <a:cs typeface="Times New Roman" panose="02020603050405020304" pitchFamily="18" charset="0"/>
              </a:rPr>
              <a:t>Duel-Winning and Physical </a:t>
            </a:r>
            <a:r>
              <a:rPr lang="en-US" altLang="en-US" sz="2100" b="1" dirty="0" smtClean="0">
                <a:solidFill>
                  <a:schemeClr val="bg1"/>
                </a:solidFill>
                <a:latin typeface="Times New Roman" panose="02020603050405020304" pitchFamily="18" charset="0"/>
                <a:cs typeface="Times New Roman" panose="02020603050405020304" pitchFamily="18" charset="0"/>
              </a:rPr>
              <a:t>Presence: </a:t>
            </a:r>
            <a:r>
              <a:rPr lang="en-US" altLang="en-US" sz="2100" dirty="0" smtClean="0">
                <a:solidFill>
                  <a:schemeClr val="bg1"/>
                </a:solidFill>
                <a:latin typeface="Times New Roman" panose="02020603050405020304" pitchFamily="18" charset="0"/>
                <a:cs typeface="Times New Roman" panose="02020603050405020304" pitchFamily="18" charset="0"/>
              </a:rPr>
              <a:t>Very competitive in physical </a:t>
            </a:r>
            <a:r>
              <a:rPr lang="en-US" altLang="en-US" sz="2100" dirty="0">
                <a:solidFill>
                  <a:schemeClr val="bg1"/>
                </a:solidFill>
                <a:latin typeface="Times New Roman" panose="02020603050405020304" pitchFamily="18" charset="0"/>
                <a:cs typeface="Times New Roman" panose="02020603050405020304" pitchFamily="18" charset="0"/>
              </a:rPr>
              <a:t>contests, using </a:t>
            </a:r>
            <a:r>
              <a:rPr lang="en-US" altLang="en-US" sz="2100" dirty="0" smtClean="0">
                <a:solidFill>
                  <a:schemeClr val="bg1"/>
                </a:solidFill>
                <a:latin typeface="Times New Roman" panose="02020603050405020304" pitchFamily="18" charset="0"/>
                <a:cs typeface="Times New Roman" panose="02020603050405020304" pitchFamily="18" charset="0"/>
              </a:rPr>
              <a:t>balance and strength to disrupt opposition play and win </a:t>
            </a:r>
            <a:r>
              <a:rPr lang="en-US" altLang="en-US" sz="2100" dirty="0">
                <a:solidFill>
                  <a:schemeClr val="bg1"/>
                </a:solidFill>
                <a:latin typeface="Times New Roman" panose="02020603050405020304" pitchFamily="18" charset="0"/>
                <a:cs typeface="Times New Roman" panose="02020603050405020304" pitchFamily="18" charset="0"/>
              </a:rPr>
              <a:t>duels </a:t>
            </a:r>
            <a:r>
              <a:rPr lang="en-US" altLang="en-US" sz="2100" dirty="0" smtClean="0">
                <a:solidFill>
                  <a:schemeClr val="bg1"/>
                </a:solidFill>
                <a:latin typeface="Times New Roman" panose="02020603050405020304" pitchFamily="18" charset="0"/>
                <a:cs typeface="Times New Roman" panose="02020603050405020304" pitchFamily="18" charset="0"/>
              </a:rPr>
              <a:t>in all pitch areas. </a:t>
            </a:r>
          </a:p>
          <a:p>
            <a:pPr marL="285750" indent="-285750">
              <a:buFont typeface="Arial" panose="020B0604020202020204" pitchFamily="34" charset="0"/>
              <a:buChar char="•"/>
            </a:pPr>
            <a:r>
              <a:rPr lang="en-US" altLang="en-US" sz="2100" b="1" dirty="0">
                <a:solidFill>
                  <a:schemeClr val="bg1"/>
                </a:solidFill>
                <a:latin typeface="Times New Roman" panose="02020603050405020304" pitchFamily="18" charset="0"/>
                <a:cs typeface="Times New Roman" panose="02020603050405020304" pitchFamily="18" charset="0"/>
              </a:rPr>
              <a:t>Defensive Recovery and </a:t>
            </a:r>
            <a:r>
              <a:rPr lang="en-US" altLang="en-US" sz="2100" b="1" dirty="0" smtClean="0">
                <a:solidFill>
                  <a:schemeClr val="bg1"/>
                </a:solidFill>
                <a:latin typeface="Times New Roman" panose="02020603050405020304" pitchFamily="18" charset="0"/>
                <a:cs typeface="Times New Roman" panose="02020603050405020304" pitchFamily="18" charset="0"/>
              </a:rPr>
              <a:t>Pressing</a:t>
            </a:r>
            <a:r>
              <a:rPr lang="en-US" altLang="en-US" sz="2100" dirty="0" smtClean="0">
                <a:solidFill>
                  <a:schemeClr val="bg1"/>
                </a:solidFill>
                <a:latin typeface="Times New Roman" panose="02020603050405020304" pitchFamily="18" charset="0"/>
                <a:cs typeface="Times New Roman" panose="02020603050405020304" pitchFamily="18" charset="0"/>
              </a:rPr>
              <a:t>: Reacts fast after losing </a:t>
            </a:r>
            <a:r>
              <a:rPr lang="en-US" altLang="en-US" sz="2100" dirty="0">
                <a:solidFill>
                  <a:schemeClr val="bg1"/>
                </a:solidFill>
                <a:latin typeface="Times New Roman" panose="02020603050405020304" pitchFamily="18" charset="0"/>
                <a:cs typeface="Times New Roman" panose="02020603050405020304" pitchFamily="18" charset="0"/>
              </a:rPr>
              <a:t>possession, follows the </a:t>
            </a:r>
            <a:r>
              <a:rPr lang="en-US" altLang="en-US" sz="2100" dirty="0" smtClean="0">
                <a:solidFill>
                  <a:schemeClr val="bg1"/>
                </a:solidFill>
                <a:latin typeface="Times New Roman" panose="02020603050405020304" pitchFamily="18" charset="0"/>
                <a:cs typeface="Times New Roman" panose="02020603050405020304" pitchFamily="18" charset="0"/>
              </a:rPr>
              <a:t>ball, and applies </a:t>
            </a:r>
            <a:r>
              <a:rPr lang="en-US" altLang="en-US" sz="2100" dirty="0">
                <a:solidFill>
                  <a:schemeClr val="bg1"/>
                </a:solidFill>
                <a:latin typeface="Times New Roman" panose="02020603050405020304" pitchFamily="18" charset="0"/>
                <a:cs typeface="Times New Roman" panose="02020603050405020304" pitchFamily="18" charset="0"/>
              </a:rPr>
              <a:t>pressure </a:t>
            </a:r>
            <a:r>
              <a:rPr lang="en-US" altLang="en-US" sz="2100" dirty="0" smtClean="0">
                <a:solidFill>
                  <a:schemeClr val="bg1"/>
                </a:solidFill>
                <a:latin typeface="Times New Roman" panose="02020603050405020304" pitchFamily="18" charset="0"/>
                <a:cs typeface="Times New Roman" panose="02020603050405020304" pitchFamily="18" charset="0"/>
              </a:rPr>
              <a:t>limiting opposition transitions.</a:t>
            </a:r>
          </a:p>
          <a:p>
            <a:pPr marL="285750" indent="-285750">
              <a:buFont typeface="Arial" panose="020B0604020202020204" pitchFamily="34" charset="0"/>
              <a:buChar char="•"/>
            </a:pPr>
            <a:endParaRPr lang="en-US" altLang="en-US" dirty="0">
              <a:solidFill>
                <a:schemeClr val="bg1"/>
              </a:solidFill>
              <a:latin typeface="Arial" panose="020B0604020202020204" pitchFamily="34" charset="0"/>
            </a:endParaRPr>
          </a:p>
        </p:txBody>
      </p:sp>
      <p:sp>
        <p:nvSpPr>
          <p:cNvPr id="11" name="TextBox 10"/>
          <p:cNvSpPr txBox="1"/>
          <p:nvPr/>
        </p:nvSpPr>
        <p:spPr>
          <a:xfrm>
            <a:off x="2511762" y="606029"/>
            <a:ext cx="9363562" cy="2677656"/>
          </a:xfrm>
          <a:prstGeom prst="rect">
            <a:avLst/>
          </a:prstGeom>
          <a:solidFill>
            <a:schemeClr val="tx1"/>
          </a:solidFill>
        </p:spPr>
        <p:txBody>
          <a:bodyPr wrap="square" rtlCol="0">
            <a:spAutoFit/>
          </a:bodyPr>
          <a:lstStyle/>
          <a:p>
            <a:r>
              <a:rPr lang="en-US" sz="2100" b="1" dirty="0" smtClean="0">
                <a:solidFill>
                  <a:schemeClr val="bg1"/>
                </a:solidFill>
                <a:latin typeface="Times New Roman" panose="02020603050405020304" pitchFamily="18" charset="0"/>
                <a:cs typeface="Times New Roman" panose="02020603050405020304" pitchFamily="18" charset="0"/>
              </a:rPr>
              <a:t>Intelligent </a:t>
            </a:r>
            <a:r>
              <a:rPr lang="en-US" sz="2100" b="1" dirty="0">
                <a:solidFill>
                  <a:schemeClr val="bg1"/>
                </a:solidFill>
                <a:latin typeface="Times New Roman" panose="02020603050405020304" pitchFamily="18" charset="0"/>
                <a:cs typeface="Times New Roman" panose="02020603050405020304" pitchFamily="18" charset="0"/>
              </a:rPr>
              <a:t>Movement into Attacking </a:t>
            </a:r>
            <a:r>
              <a:rPr lang="en-US" sz="2100" b="1" dirty="0" smtClean="0">
                <a:solidFill>
                  <a:schemeClr val="bg1"/>
                </a:solidFill>
                <a:latin typeface="Times New Roman" panose="02020603050405020304" pitchFamily="18" charset="0"/>
                <a:cs typeface="Times New Roman" panose="02020603050405020304" pitchFamily="18" charset="0"/>
              </a:rPr>
              <a:t>Spaces</a:t>
            </a:r>
            <a:r>
              <a:rPr lang="en-US" sz="2100" dirty="0" smtClean="0">
                <a:solidFill>
                  <a:schemeClr val="bg1"/>
                </a:solidFill>
                <a:latin typeface="Times New Roman" panose="02020603050405020304" pitchFamily="18" charset="0"/>
                <a:cs typeface="Times New Roman" panose="02020603050405020304" pitchFamily="18" charset="0"/>
              </a:rPr>
              <a:t>: Well-timed forwards runs, arrives in the box </a:t>
            </a:r>
            <a:r>
              <a:rPr lang="en-US" sz="2100" dirty="0">
                <a:solidFill>
                  <a:schemeClr val="bg1"/>
                </a:solidFill>
                <a:latin typeface="Times New Roman" panose="02020603050405020304" pitchFamily="18" charset="0"/>
                <a:cs typeface="Times New Roman" panose="02020603050405020304" pitchFamily="18" charset="0"/>
              </a:rPr>
              <a:t>and advanced areas at the right </a:t>
            </a:r>
            <a:r>
              <a:rPr lang="en-US" sz="2100" dirty="0" smtClean="0">
                <a:solidFill>
                  <a:schemeClr val="bg1"/>
                </a:solidFill>
                <a:latin typeface="Times New Roman" panose="02020603050405020304" pitchFamily="18" charset="0"/>
                <a:cs typeface="Times New Roman" panose="02020603050405020304" pitchFamily="18" charset="0"/>
              </a:rPr>
              <a:t>time, supporting attacks </a:t>
            </a:r>
            <a:r>
              <a:rPr lang="en-US" sz="2100" dirty="0">
                <a:solidFill>
                  <a:schemeClr val="bg1"/>
                </a:solidFill>
                <a:latin typeface="Times New Roman" panose="02020603050405020304" pitchFamily="18" charset="0"/>
                <a:cs typeface="Times New Roman" panose="02020603050405020304" pitchFamily="18" charset="0"/>
              </a:rPr>
              <a:t>and </a:t>
            </a:r>
            <a:r>
              <a:rPr lang="en-US" sz="2100" dirty="0" smtClean="0">
                <a:solidFill>
                  <a:schemeClr val="bg1"/>
                </a:solidFill>
                <a:latin typeface="Times New Roman" panose="02020603050405020304" pitchFamily="18" charset="0"/>
                <a:cs typeface="Times New Roman" panose="02020603050405020304" pitchFamily="18" charset="0"/>
              </a:rPr>
              <a:t>creates goal-scoring chances.</a:t>
            </a:r>
            <a:endParaRPr lang="en-US" sz="2100" dirty="0">
              <a:solidFill>
                <a:schemeClr val="bg1"/>
              </a:solidFill>
              <a:latin typeface="Times New Roman" panose="02020603050405020304" pitchFamily="18" charset="0"/>
              <a:cs typeface="Times New Roman" panose="02020603050405020304" pitchFamily="18" charset="0"/>
            </a:endParaRPr>
          </a:p>
          <a:p>
            <a:r>
              <a:rPr lang="en-US" sz="2100" b="1" dirty="0" smtClean="0">
                <a:solidFill>
                  <a:schemeClr val="bg1"/>
                </a:solidFill>
                <a:latin typeface="Times New Roman" panose="02020603050405020304" pitchFamily="18" charset="0"/>
                <a:cs typeface="Times New Roman" panose="02020603050405020304" pitchFamily="18" charset="0"/>
              </a:rPr>
              <a:t>Awareness </a:t>
            </a:r>
            <a:r>
              <a:rPr lang="en-US" sz="2100" b="1" dirty="0">
                <a:solidFill>
                  <a:schemeClr val="bg1"/>
                </a:solidFill>
                <a:latin typeface="Times New Roman" panose="02020603050405020304" pitchFamily="18" charset="0"/>
                <a:cs typeface="Times New Roman" panose="02020603050405020304" pitchFamily="18" charset="0"/>
              </a:rPr>
              <a:t>in the Final </a:t>
            </a:r>
            <a:r>
              <a:rPr lang="en-US" sz="2100" b="1" dirty="0" smtClean="0">
                <a:solidFill>
                  <a:schemeClr val="bg1"/>
                </a:solidFill>
                <a:latin typeface="Times New Roman" panose="02020603050405020304" pitchFamily="18" charset="0"/>
                <a:cs typeface="Times New Roman" panose="02020603050405020304" pitchFamily="18" charset="0"/>
              </a:rPr>
              <a:t>Third</a:t>
            </a:r>
            <a:r>
              <a:rPr lang="en-US" sz="2100" dirty="0" smtClean="0">
                <a:solidFill>
                  <a:schemeClr val="bg1"/>
                </a:solidFill>
                <a:latin typeface="Times New Roman" panose="02020603050405020304" pitchFamily="18" charset="0"/>
                <a:cs typeface="Times New Roman" panose="02020603050405020304" pitchFamily="18" charset="0"/>
              </a:rPr>
              <a:t>: Demonstrates understanding </a:t>
            </a:r>
            <a:r>
              <a:rPr lang="en-US" sz="2100" dirty="0">
                <a:solidFill>
                  <a:schemeClr val="bg1"/>
                </a:solidFill>
                <a:latin typeface="Times New Roman" panose="02020603050405020304" pitchFamily="18" charset="0"/>
                <a:cs typeface="Times New Roman" panose="02020603050405020304" pitchFamily="18" charset="0"/>
              </a:rPr>
              <a:t>of </a:t>
            </a:r>
            <a:r>
              <a:rPr lang="en-US" sz="2100" dirty="0" smtClean="0">
                <a:solidFill>
                  <a:schemeClr val="bg1"/>
                </a:solidFill>
                <a:latin typeface="Times New Roman" panose="02020603050405020304" pitchFamily="18" charset="0"/>
                <a:cs typeface="Times New Roman" panose="02020603050405020304" pitchFamily="18" charset="0"/>
              </a:rPr>
              <a:t>space, recognizing </a:t>
            </a:r>
            <a:r>
              <a:rPr lang="en-US" sz="2100" dirty="0">
                <a:solidFill>
                  <a:schemeClr val="bg1"/>
                </a:solidFill>
                <a:latin typeface="Times New Roman" panose="02020603050405020304" pitchFamily="18" charset="0"/>
                <a:cs typeface="Times New Roman" panose="02020603050405020304" pitchFamily="18" charset="0"/>
              </a:rPr>
              <a:t>gaps between lines and positioning herself to receive or recycle the ball effectively</a:t>
            </a:r>
            <a:r>
              <a:rPr lang="en-US" sz="2100" dirty="0" smtClean="0">
                <a:solidFill>
                  <a:schemeClr val="bg1"/>
                </a:solidFill>
                <a:latin typeface="Times New Roman" panose="02020603050405020304" pitchFamily="18" charset="0"/>
                <a:cs typeface="Times New Roman" panose="02020603050405020304" pitchFamily="18" charset="0"/>
              </a:rPr>
              <a:t>.</a:t>
            </a:r>
          </a:p>
          <a:p>
            <a:r>
              <a:rPr lang="en-US" sz="2100" b="1" dirty="0">
                <a:solidFill>
                  <a:schemeClr val="bg1"/>
                </a:solidFill>
                <a:latin typeface="Times New Roman" panose="02020603050405020304" pitchFamily="18" charset="0"/>
                <a:cs typeface="Times New Roman" panose="02020603050405020304" pitchFamily="18" charset="0"/>
              </a:rPr>
              <a:t>Ball Progression and Support in </a:t>
            </a:r>
            <a:r>
              <a:rPr lang="en-US" sz="2100" b="1" dirty="0" smtClean="0">
                <a:solidFill>
                  <a:schemeClr val="bg1"/>
                </a:solidFill>
                <a:latin typeface="Times New Roman" panose="02020603050405020304" pitchFamily="18" charset="0"/>
                <a:cs typeface="Times New Roman" panose="02020603050405020304" pitchFamily="18" charset="0"/>
              </a:rPr>
              <a:t>Build-Up</a:t>
            </a:r>
            <a:r>
              <a:rPr lang="en-US" sz="2100" dirty="0" smtClean="0">
                <a:solidFill>
                  <a:schemeClr val="bg1"/>
                </a:solidFill>
                <a:latin typeface="Times New Roman" panose="02020603050405020304" pitchFamily="18" charset="0"/>
                <a:cs typeface="Times New Roman" panose="02020603050405020304" pitchFamily="18" charset="0"/>
              </a:rPr>
              <a:t>: Confident </a:t>
            </a:r>
            <a:r>
              <a:rPr lang="en-US" sz="2100" dirty="0">
                <a:solidFill>
                  <a:schemeClr val="bg1"/>
                </a:solidFill>
                <a:latin typeface="Times New Roman" panose="02020603050405020304" pitchFamily="18" charset="0"/>
                <a:cs typeface="Times New Roman" panose="02020603050405020304" pitchFamily="18" charset="0"/>
              </a:rPr>
              <a:t>ball carrier who progresses play through midfield, offering passing options and maintaining possession continuity during build-up phases</a:t>
            </a:r>
            <a:r>
              <a:rPr lang="en-US" sz="2100" dirty="0" smtClean="0">
                <a:solidFill>
                  <a:schemeClr val="bg1"/>
                </a:solidFill>
                <a:latin typeface="Times New Roman" panose="02020603050405020304" pitchFamily="18" charset="0"/>
                <a:cs typeface="Times New Roman" panose="02020603050405020304" pitchFamily="18" charset="0"/>
              </a:rPr>
              <a:t>.</a:t>
            </a:r>
            <a:endParaRPr lang="en-US" sz="2100" dirty="0">
              <a:solidFill>
                <a:schemeClr val="bg1"/>
              </a:solidFill>
              <a:latin typeface="Times New Roman" panose="02020603050405020304" pitchFamily="18" charset="0"/>
              <a:cs typeface="Times New Roman" panose="02020603050405020304" pitchFamily="18" charset="0"/>
            </a:endParaRPr>
          </a:p>
        </p:txBody>
      </p:sp>
      <p:sp>
        <p:nvSpPr>
          <p:cNvPr id="14" name="TextBox 13"/>
          <p:cNvSpPr txBox="1"/>
          <p:nvPr/>
        </p:nvSpPr>
        <p:spPr>
          <a:xfrm>
            <a:off x="2511763" y="128975"/>
            <a:ext cx="4969692" cy="477054"/>
          </a:xfrm>
          <a:prstGeom prst="rect">
            <a:avLst/>
          </a:prstGeom>
          <a:noFill/>
        </p:spPr>
        <p:txBody>
          <a:bodyPr wrap="square" rtlCol="0">
            <a:spAutoFit/>
          </a:bodyPr>
          <a:lstStyle/>
          <a:p>
            <a:r>
              <a:rPr lang="en-US" sz="2500" b="1" dirty="0" smtClean="0">
                <a:solidFill>
                  <a:srgbClr val="FFFF00"/>
                </a:solidFill>
                <a:latin typeface="Times New Roman" panose="02020603050405020304" pitchFamily="18" charset="0"/>
                <a:cs typeface="Times New Roman" panose="02020603050405020304" pitchFamily="18" charset="0"/>
              </a:rPr>
              <a:t>OFFENSIVE CONTRIBUTION</a:t>
            </a:r>
            <a:endParaRPr lang="en-US" sz="2500" b="1" dirty="0">
              <a:solidFill>
                <a:srgbClr val="FFFF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8374757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0" y="0"/>
            <a:ext cx="2143760" cy="1899920"/>
          </a:xfrm>
        </p:spPr>
      </p:pic>
      <p:sp>
        <p:nvSpPr>
          <p:cNvPr id="4" name="Rectangle 3"/>
          <p:cNvSpPr/>
          <p:nvPr/>
        </p:nvSpPr>
        <p:spPr>
          <a:xfrm>
            <a:off x="0" y="1899920"/>
            <a:ext cx="2143760" cy="4958080"/>
          </a:xfrm>
          <a:prstGeom prst="rect">
            <a:avLst/>
          </a:prstGeom>
          <a:no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p:cNvSpPr txBox="1"/>
          <p:nvPr/>
        </p:nvSpPr>
        <p:spPr>
          <a:xfrm>
            <a:off x="0" y="2255520"/>
            <a:ext cx="2143760" cy="2400657"/>
          </a:xfrm>
          <a:prstGeom prst="rect">
            <a:avLst/>
          </a:prstGeom>
          <a:noFill/>
        </p:spPr>
        <p:txBody>
          <a:bodyPr wrap="square" rtlCol="0">
            <a:spAutoFit/>
          </a:bodyPr>
          <a:lstStyle/>
          <a:p>
            <a:r>
              <a:rPr lang="en-US" sz="1200" dirty="0">
                <a:latin typeface="Times New Roman" panose="02020603050405020304" pitchFamily="18" charset="0"/>
                <a:cs typeface="Times New Roman" panose="02020603050405020304" pitchFamily="18" charset="0"/>
              </a:rPr>
              <a:t>Player Name: Isabella Ludwig</a:t>
            </a:r>
            <a:br>
              <a:rPr lang="en-US" sz="1200" dirty="0">
                <a:latin typeface="Times New Roman" panose="02020603050405020304" pitchFamily="18" charset="0"/>
                <a:cs typeface="Times New Roman" panose="02020603050405020304" pitchFamily="18" charset="0"/>
              </a:rPr>
            </a:br>
            <a:r>
              <a:rPr lang="en-US" sz="1200" dirty="0">
                <a:latin typeface="Times New Roman" panose="02020603050405020304" pitchFamily="18" charset="0"/>
                <a:cs typeface="Times New Roman" panose="02020603050405020304" pitchFamily="18" charset="0"/>
              </a:rPr>
              <a:t>Age: 23 years</a:t>
            </a:r>
            <a:br>
              <a:rPr lang="en-US" sz="1200" dirty="0">
                <a:latin typeface="Times New Roman" panose="02020603050405020304" pitchFamily="18" charset="0"/>
                <a:cs typeface="Times New Roman" panose="02020603050405020304" pitchFamily="18" charset="0"/>
              </a:rPr>
            </a:br>
            <a:r>
              <a:rPr lang="en-US" sz="1200" dirty="0">
                <a:latin typeface="Times New Roman" panose="02020603050405020304" pitchFamily="18" charset="0"/>
                <a:cs typeface="Times New Roman" panose="02020603050405020304" pitchFamily="18" charset="0"/>
              </a:rPr>
              <a:t>Nationality: South </a:t>
            </a:r>
            <a:r>
              <a:rPr lang="en-US" sz="1200" dirty="0" smtClean="0">
                <a:latin typeface="Times New Roman" panose="02020603050405020304" pitchFamily="18" charset="0"/>
                <a:cs typeface="Times New Roman" panose="02020603050405020304" pitchFamily="18" charset="0"/>
              </a:rPr>
              <a:t>African</a:t>
            </a:r>
          </a:p>
          <a:p>
            <a:r>
              <a:rPr lang="en-US" sz="1200" dirty="0" smtClean="0">
                <a:latin typeface="Times New Roman" panose="02020603050405020304" pitchFamily="18" charset="0"/>
                <a:cs typeface="Times New Roman" panose="02020603050405020304" pitchFamily="18" charset="0"/>
              </a:rPr>
              <a:t>Club: </a:t>
            </a:r>
            <a:r>
              <a:rPr lang="en-US" sz="1200" dirty="0">
                <a:latin typeface="Times New Roman" panose="02020603050405020304" pitchFamily="18" charset="0"/>
                <a:cs typeface="Times New Roman" panose="02020603050405020304" pitchFamily="18" charset="0"/>
              </a:rPr>
              <a:t>Mamelodi Sundowns </a:t>
            </a:r>
            <a:r>
              <a:rPr lang="en-US" sz="1200" dirty="0" smtClean="0">
                <a:latin typeface="Times New Roman" panose="02020603050405020304" pitchFamily="18" charset="0"/>
                <a:cs typeface="Times New Roman" panose="02020603050405020304" pitchFamily="18" charset="0"/>
              </a:rPr>
              <a:t>Ladies FC</a:t>
            </a:r>
            <a:r>
              <a:rPr lang="en-US" sz="1200" dirty="0">
                <a:latin typeface="Times New Roman" panose="02020603050405020304" pitchFamily="18" charset="0"/>
                <a:cs typeface="Times New Roman" panose="02020603050405020304" pitchFamily="18" charset="0"/>
              </a:rPr>
              <a:t/>
            </a:r>
            <a:br>
              <a:rPr lang="en-US" sz="1200" dirty="0">
                <a:latin typeface="Times New Roman" panose="02020603050405020304" pitchFamily="18" charset="0"/>
                <a:cs typeface="Times New Roman" panose="02020603050405020304" pitchFamily="18" charset="0"/>
              </a:rPr>
            </a:br>
            <a:r>
              <a:rPr lang="en-US" sz="1200" dirty="0">
                <a:latin typeface="Times New Roman" panose="02020603050405020304" pitchFamily="18" charset="0"/>
                <a:cs typeface="Times New Roman" panose="02020603050405020304" pitchFamily="18" charset="0"/>
              </a:rPr>
              <a:t>Primary Position: Midfielder </a:t>
            </a:r>
            <a:endParaRPr lang="en-US" sz="1200" dirty="0" smtClean="0">
              <a:latin typeface="Times New Roman" panose="02020603050405020304" pitchFamily="18" charset="0"/>
              <a:cs typeface="Times New Roman" panose="02020603050405020304" pitchFamily="18" charset="0"/>
            </a:endParaRPr>
          </a:p>
          <a:p>
            <a:r>
              <a:rPr lang="en-US" sz="1200" dirty="0" smtClean="0">
                <a:latin typeface="Times New Roman" panose="02020603050405020304" pitchFamily="18" charset="0"/>
                <a:cs typeface="Times New Roman" panose="02020603050405020304" pitchFamily="18" charset="0"/>
              </a:rPr>
              <a:t>Height: 1.69m</a:t>
            </a:r>
          </a:p>
          <a:p>
            <a:r>
              <a:rPr lang="en-US" sz="1200" dirty="0">
                <a:latin typeface="Times New Roman" panose="02020603050405020304" pitchFamily="18" charset="0"/>
                <a:cs typeface="Times New Roman" panose="02020603050405020304" pitchFamily="18" charset="0"/>
              </a:rPr>
              <a:t>Preferred Foot: Not specified</a:t>
            </a:r>
            <a:br>
              <a:rPr lang="en-US" sz="1200" dirty="0">
                <a:latin typeface="Times New Roman" panose="02020603050405020304" pitchFamily="18" charset="0"/>
                <a:cs typeface="Times New Roman" panose="02020603050405020304" pitchFamily="18" charset="0"/>
              </a:rPr>
            </a:br>
            <a:r>
              <a:rPr lang="en-US" sz="1200" dirty="0">
                <a:latin typeface="Times New Roman" panose="02020603050405020304" pitchFamily="18" charset="0"/>
                <a:cs typeface="Times New Roman" panose="02020603050405020304" pitchFamily="18" charset="0"/>
              </a:rPr>
              <a:t>Contract Status: Joined 2025</a:t>
            </a:r>
            <a:endParaRPr lang="en-US" sz="1200" dirty="0" smtClean="0">
              <a:latin typeface="Times New Roman" panose="02020603050405020304" pitchFamily="18" charset="0"/>
              <a:cs typeface="Times New Roman" panose="02020603050405020304" pitchFamily="18" charset="0"/>
            </a:endParaRPr>
          </a:p>
          <a:p>
            <a:endParaRPr lang="en-US" sz="1200" dirty="0">
              <a:latin typeface="Times New Roman" panose="02020603050405020304" pitchFamily="18" charset="0"/>
              <a:cs typeface="Times New Roman" panose="02020603050405020304" pitchFamily="18" charset="0"/>
            </a:endParaRPr>
          </a:p>
          <a:p>
            <a:r>
              <a:rPr lang="en-US" sz="1200" dirty="0" smtClean="0">
                <a:latin typeface="Times New Roman" panose="02020603050405020304" pitchFamily="18" charset="0"/>
                <a:cs typeface="Times New Roman" panose="02020603050405020304" pitchFamily="18" charset="0"/>
              </a:rPr>
              <a:t>2026-01-02</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endParaRPr lang="en-US" dirty="0"/>
          </a:p>
        </p:txBody>
      </p:sp>
      <p:sp>
        <p:nvSpPr>
          <p:cNvPr id="14" name="TextBox 13"/>
          <p:cNvSpPr txBox="1"/>
          <p:nvPr/>
        </p:nvSpPr>
        <p:spPr>
          <a:xfrm>
            <a:off x="2511762" y="128975"/>
            <a:ext cx="9256685" cy="461665"/>
          </a:xfrm>
          <a:prstGeom prst="rect">
            <a:avLst/>
          </a:prstGeom>
          <a:noFill/>
        </p:spPr>
        <p:txBody>
          <a:bodyPr wrap="square" rtlCol="0">
            <a:spAutoFit/>
          </a:bodyPr>
          <a:lstStyle/>
          <a:p>
            <a:pPr algn="ctr"/>
            <a:r>
              <a:rPr lang="en-US" sz="2400" b="1" dirty="0" smtClean="0">
                <a:solidFill>
                  <a:srgbClr val="FFFF00"/>
                </a:solidFill>
                <a:latin typeface="Times New Roman" panose="02020603050405020304" pitchFamily="18" charset="0"/>
                <a:cs typeface="Times New Roman" panose="02020603050405020304" pitchFamily="18" charset="0"/>
              </a:rPr>
              <a:t>ESTIMATED RATINGS ACROSS KEY PERFORMANCE AREAS</a:t>
            </a:r>
            <a:endParaRPr lang="en-US" sz="2400" b="1" dirty="0">
              <a:solidFill>
                <a:srgbClr val="FFFF00"/>
              </a:solidFill>
              <a:latin typeface="Times New Roman" panose="02020603050405020304" pitchFamily="18" charset="0"/>
              <a:cs typeface="Times New Roman" panose="02020603050405020304" pitchFamily="18" charset="0"/>
            </a:endParaRPr>
          </a:p>
        </p:txBody>
      </p:sp>
      <p:graphicFrame>
        <p:nvGraphicFramePr>
          <p:cNvPr id="18" name="Chart 17"/>
          <p:cNvGraphicFramePr>
            <a:graphicFrameLocks/>
          </p:cNvGraphicFramePr>
          <p:nvPr>
            <p:extLst>
              <p:ext uri="{D42A27DB-BD31-4B8C-83A1-F6EECF244321}">
                <p14:modId xmlns:p14="http://schemas.microsoft.com/office/powerpoint/2010/main" val="3994071800"/>
              </p:ext>
            </p:extLst>
          </p:nvPr>
        </p:nvGraphicFramePr>
        <p:xfrm>
          <a:off x="2921331" y="1045029"/>
          <a:ext cx="8657112" cy="5320145"/>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04455645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0" y="0"/>
            <a:ext cx="2143760" cy="1899920"/>
          </a:xfrm>
        </p:spPr>
      </p:pic>
      <p:sp>
        <p:nvSpPr>
          <p:cNvPr id="4" name="Rectangle 3"/>
          <p:cNvSpPr/>
          <p:nvPr/>
        </p:nvSpPr>
        <p:spPr>
          <a:xfrm>
            <a:off x="0" y="1899920"/>
            <a:ext cx="2143760" cy="4958080"/>
          </a:xfrm>
          <a:prstGeom prst="rect">
            <a:avLst/>
          </a:prstGeom>
          <a:no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p:cNvSpPr txBox="1"/>
          <p:nvPr/>
        </p:nvSpPr>
        <p:spPr>
          <a:xfrm>
            <a:off x="0" y="2255520"/>
            <a:ext cx="2143760" cy="2400657"/>
          </a:xfrm>
          <a:prstGeom prst="rect">
            <a:avLst/>
          </a:prstGeom>
          <a:noFill/>
        </p:spPr>
        <p:txBody>
          <a:bodyPr wrap="square" rtlCol="0">
            <a:spAutoFit/>
          </a:bodyPr>
          <a:lstStyle/>
          <a:p>
            <a:r>
              <a:rPr lang="en-US" sz="1200" dirty="0">
                <a:latin typeface="Times New Roman" panose="02020603050405020304" pitchFamily="18" charset="0"/>
                <a:cs typeface="Times New Roman" panose="02020603050405020304" pitchFamily="18" charset="0"/>
              </a:rPr>
              <a:t>Player Name: Isabella Ludwig</a:t>
            </a:r>
            <a:br>
              <a:rPr lang="en-US" sz="1200" dirty="0">
                <a:latin typeface="Times New Roman" panose="02020603050405020304" pitchFamily="18" charset="0"/>
                <a:cs typeface="Times New Roman" panose="02020603050405020304" pitchFamily="18" charset="0"/>
              </a:rPr>
            </a:br>
            <a:r>
              <a:rPr lang="en-US" sz="1200" dirty="0">
                <a:latin typeface="Times New Roman" panose="02020603050405020304" pitchFamily="18" charset="0"/>
                <a:cs typeface="Times New Roman" panose="02020603050405020304" pitchFamily="18" charset="0"/>
              </a:rPr>
              <a:t>Age: 23 years</a:t>
            </a:r>
            <a:br>
              <a:rPr lang="en-US" sz="1200" dirty="0">
                <a:latin typeface="Times New Roman" panose="02020603050405020304" pitchFamily="18" charset="0"/>
                <a:cs typeface="Times New Roman" panose="02020603050405020304" pitchFamily="18" charset="0"/>
              </a:rPr>
            </a:br>
            <a:r>
              <a:rPr lang="en-US" sz="1200" dirty="0">
                <a:latin typeface="Times New Roman" panose="02020603050405020304" pitchFamily="18" charset="0"/>
                <a:cs typeface="Times New Roman" panose="02020603050405020304" pitchFamily="18" charset="0"/>
              </a:rPr>
              <a:t>Nationality: South </a:t>
            </a:r>
            <a:r>
              <a:rPr lang="en-US" sz="1200" dirty="0" smtClean="0">
                <a:latin typeface="Times New Roman" panose="02020603050405020304" pitchFamily="18" charset="0"/>
                <a:cs typeface="Times New Roman" panose="02020603050405020304" pitchFamily="18" charset="0"/>
              </a:rPr>
              <a:t>African</a:t>
            </a:r>
          </a:p>
          <a:p>
            <a:r>
              <a:rPr lang="en-US" sz="1200" dirty="0" smtClean="0">
                <a:latin typeface="Times New Roman" panose="02020603050405020304" pitchFamily="18" charset="0"/>
                <a:cs typeface="Times New Roman" panose="02020603050405020304" pitchFamily="18" charset="0"/>
              </a:rPr>
              <a:t>Club: </a:t>
            </a:r>
            <a:r>
              <a:rPr lang="en-US" sz="1200" dirty="0">
                <a:latin typeface="Times New Roman" panose="02020603050405020304" pitchFamily="18" charset="0"/>
                <a:cs typeface="Times New Roman" panose="02020603050405020304" pitchFamily="18" charset="0"/>
              </a:rPr>
              <a:t>Mamelodi Sundowns </a:t>
            </a:r>
            <a:r>
              <a:rPr lang="en-US" sz="1200" dirty="0" smtClean="0">
                <a:latin typeface="Times New Roman" panose="02020603050405020304" pitchFamily="18" charset="0"/>
                <a:cs typeface="Times New Roman" panose="02020603050405020304" pitchFamily="18" charset="0"/>
              </a:rPr>
              <a:t>Ladies FC</a:t>
            </a:r>
            <a:r>
              <a:rPr lang="en-US" sz="1200" dirty="0">
                <a:latin typeface="Times New Roman" panose="02020603050405020304" pitchFamily="18" charset="0"/>
                <a:cs typeface="Times New Roman" panose="02020603050405020304" pitchFamily="18" charset="0"/>
              </a:rPr>
              <a:t/>
            </a:r>
            <a:br>
              <a:rPr lang="en-US" sz="1200" dirty="0">
                <a:latin typeface="Times New Roman" panose="02020603050405020304" pitchFamily="18" charset="0"/>
                <a:cs typeface="Times New Roman" panose="02020603050405020304" pitchFamily="18" charset="0"/>
              </a:rPr>
            </a:br>
            <a:r>
              <a:rPr lang="en-US" sz="1200" dirty="0">
                <a:latin typeface="Times New Roman" panose="02020603050405020304" pitchFamily="18" charset="0"/>
                <a:cs typeface="Times New Roman" panose="02020603050405020304" pitchFamily="18" charset="0"/>
              </a:rPr>
              <a:t>Primary Position: Midfielder </a:t>
            </a:r>
            <a:endParaRPr lang="en-US" sz="1200" dirty="0" smtClean="0">
              <a:latin typeface="Times New Roman" panose="02020603050405020304" pitchFamily="18" charset="0"/>
              <a:cs typeface="Times New Roman" panose="02020603050405020304" pitchFamily="18" charset="0"/>
            </a:endParaRPr>
          </a:p>
          <a:p>
            <a:r>
              <a:rPr lang="en-US" sz="1200" dirty="0" smtClean="0">
                <a:latin typeface="Times New Roman" panose="02020603050405020304" pitchFamily="18" charset="0"/>
                <a:cs typeface="Times New Roman" panose="02020603050405020304" pitchFamily="18" charset="0"/>
              </a:rPr>
              <a:t>Height: 1.69m</a:t>
            </a:r>
          </a:p>
          <a:p>
            <a:r>
              <a:rPr lang="en-US" sz="1200" dirty="0">
                <a:latin typeface="Times New Roman" panose="02020603050405020304" pitchFamily="18" charset="0"/>
                <a:cs typeface="Times New Roman" panose="02020603050405020304" pitchFamily="18" charset="0"/>
              </a:rPr>
              <a:t>Preferred Foot: Not specified</a:t>
            </a:r>
            <a:br>
              <a:rPr lang="en-US" sz="1200" dirty="0">
                <a:latin typeface="Times New Roman" panose="02020603050405020304" pitchFamily="18" charset="0"/>
                <a:cs typeface="Times New Roman" panose="02020603050405020304" pitchFamily="18" charset="0"/>
              </a:rPr>
            </a:br>
            <a:r>
              <a:rPr lang="en-US" sz="1200" dirty="0">
                <a:latin typeface="Times New Roman" panose="02020603050405020304" pitchFamily="18" charset="0"/>
                <a:cs typeface="Times New Roman" panose="02020603050405020304" pitchFamily="18" charset="0"/>
              </a:rPr>
              <a:t>Contract Status: Joined 2025</a:t>
            </a:r>
            <a:endParaRPr lang="en-US" sz="1200" dirty="0" smtClean="0">
              <a:latin typeface="Times New Roman" panose="02020603050405020304" pitchFamily="18" charset="0"/>
              <a:cs typeface="Times New Roman" panose="02020603050405020304" pitchFamily="18" charset="0"/>
            </a:endParaRPr>
          </a:p>
          <a:p>
            <a:endParaRPr lang="en-US" sz="1200" dirty="0">
              <a:latin typeface="Times New Roman" panose="02020603050405020304" pitchFamily="18" charset="0"/>
              <a:cs typeface="Times New Roman" panose="02020603050405020304" pitchFamily="18" charset="0"/>
            </a:endParaRPr>
          </a:p>
          <a:p>
            <a:r>
              <a:rPr lang="en-US" sz="1200" dirty="0" smtClean="0">
                <a:latin typeface="Times New Roman" panose="02020603050405020304" pitchFamily="18" charset="0"/>
                <a:cs typeface="Times New Roman" panose="02020603050405020304" pitchFamily="18" charset="0"/>
              </a:rPr>
              <a:t>2026-01-02</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endParaRPr lang="en-US" dirty="0"/>
          </a:p>
        </p:txBody>
      </p:sp>
      <p:sp>
        <p:nvSpPr>
          <p:cNvPr id="22" name="TextBox 21"/>
          <p:cNvSpPr txBox="1"/>
          <p:nvPr/>
        </p:nvSpPr>
        <p:spPr>
          <a:xfrm>
            <a:off x="2737394" y="3336526"/>
            <a:ext cx="9363561" cy="553998"/>
          </a:xfrm>
          <a:prstGeom prst="rect">
            <a:avLst/>
          </a:prstGeom>
          <a:noFill/>
        </p:spPr>
        <p:txBody>
          <a:bodyPr wrap="square" rtlCol="0">
            <a:spAutoFit/>
          </a:bodyPr>
          <a:lstStyle/>
          <a:p>
            <a:pPr algn="ctr"/>
            <a:r>
              <a:rPr lang="en-US" sz="3000" b="1" dirty="0" smtClean="0">
                <a:solidFill>
                  <a:srgbClr val="FFFF00"/>
                </a:solidFill>
                <a:latin typeface="Times New Roman" panose="02020603050405020304" pitchFamily="18" charset="0"/>
                <a:cs typeface="Times New Roman" panose="02020603050405020304" pitchFamily="18" charset="0"/>
              </a:rPr>
              <a:t>SUMMARY</a:t>
            </a:r>
            <a:endParaRPr lang="en-US" sz="3000" b="1" dirty="0">
              <a:solidFill>
                <a:srgbClr val="FFFF00"/>
              </a:solidFill>
              <a:latin typeface="Times New Roman" panose="02020603050405020304" pitchFamily="18" charset="0"/>
              <a:cs typeface="Times New Roman" panose="02020603050405020304" pitchFamily="18" charset="0"/>
            </a:endParaRPr>
          </a:p>
        </p:txBody>
      </p:sp>
      <p:sp>
        <p:nvSpPr>
          <p:cNvPr id="24" name="TextBox 23"/>
          <p:cNvSpPr txBox="1"/>
          <p:nvPr/>
        </p:nvSpPr>
        <p:spPr>
          <a:xfrm>
            <a:off x="2511762" y="3965712"/>
            <a:ext cx="9363562" cy="1938992"/>
          </a:xfrm>
          <a:prstGeom prst="rect">
            <a:avLst/>
          </a:prstGeom>
          <a:solidFill>
            <a:schemeClr val="tx1"/>
          </a:solidFill>
        </p:spPr>
        <p:txBody>
          <a:bodyPr wrap="square" rtlCol="0">
            <a:spAutoFit/>
          </a:bodyPr>
          <a:lstStyle/>
          <a:p>
            <a:r>
              <a:rPr lang="en-US" sz="2400" dirty="0">
                <a:solidFill>
                  <a:schemeClr val="bg1"/>
                </a:solidFill>
                <a:latin typeface="Times New Roman" panose="02020603050405020304" pitchFamily="18" charset="0"/>
                <a:cs typeface="Times New Roman" panose="02020603050405020304" pitchFamily="18" charset="0"/>
              </a:rPr>
              <a:t>Isabella Ludwig is a physically strong and tactically intelligent midfielder who brings energy, structure, and balance to the team. She supports attack, reads the game well, contributes consistently off-the-ball. She is defensively reliable and offensively aware, and is well-suited to systems that require midfielders to connect play and cover ground. </a:t>
            </a:r>
          </a:p>
        </p:txBody>
      </p:sp>
      <p:sp>
        <p:nvSpPr>
          <p:cNvPr id="11" name="TextBox 10"/>
          <p:cNvSpPr txBox="1"/>
          <p:nvPr/>
        </p:nvSpPr>
        <p:spPr>
          <a:xfrm>
            <a:off x="2511762" y="738664"/>
            <a:ext cx="9363562" cy="2015936"/>
          </a:xfrm>
          <a:prstGeom prst="rect">
            <a:avLst/>
          </a:prstGeom>
          <a:solidFill>
            <a:schemeClr val="tx1"/>
          </a:solidFill>
        </p:spPr>
        <p:txBody>
          <a:bodyPr wrap="square" rtlCol="0">
            <a:spAutoFit/>
          </a:bodyPr>
          <a:lstStyle/>
          <a:p>
            <a:r>
              <a:rPr lang="en-US" sz="2500" dirty="0" smtClean="0">
                <a:solidFill>
                  <a:schemeClr val="bg1"/>
                </a:solidFill>
                <a:latin typeface="Times New Roman" panose="02020603050405020304" pitchFamily="18" charset="0"/>
                <a:cs typeface="Times New Roman" panose="02020603050405020304" pitchFamily="18" charset="0"/>
              </a:rPr>
              <a:t>Isabella Ludwig </a:t>
            </a:r>
            <a:r>
              <a:rPr lang="en-US" sz="2500" dirty="0">
                <a:solidFill>
                  <a:schemeClr val="bg1"/>
                </a:solidFill>
                <a:latin typeface="Times New Roman" panose="02020603050405020304" pitchFamily="18" charset="0"/>
                <a:cs typeface="Times New Roman" panose="02020603050405020304" pitchFamily="18" charset="0"/>
              </a:rPr>
              <a:t>operates as a central midfielder with box-to-box responsibilities. A key figure in offensive and defensive phases. Her role involves supporting build-up play, maintaining positional balance, supporting build-up play, and providing defensive cover through recovery runs and duel-winning in midfield</a:t>
            </a:r>
            <a:r>
              <a:rPr lang="en-US" sz="2500" dirty="0" smtClean="0">
                <a:solidFill>
                  <a:schemeClr val="bg1"/>
                </a:solidFill>
                <a:latin typeface="Times New Roman" panose="02020603050405020304" pitchFamily="18" charset="0"/>
                <a:cs typeface="Times New Roman" panose="02020603050405020304" pitchFamily="18" charset="0"/>
              </a:rPr>
              <a:t>.</a:t>
            </a:r>
            <a:endParaRPr lang="en-US" sz="2500" dirty="0">
              <a:solidFill>
                <a:schemeClr val="bg1"/>
              </a:solidFill>
              <a:latin typeface="Times New Roman" panose="02020603050405020304" pitchFamily="18" charset="0"/>
              <a:cs typeface="Times New Roman" panose="02020603050405020304" pitchFamily="18" charset="0"/>
            </a:endParaRPr>
          </a:p>
        </p:txBody>
      </p:sp>
      <p:sp>
        <p:nvSpPr>
          <p:cNvPr id="14" name="TextBox 13"/>
          <p:cNvSpPr txBox="1"/>
          <p:nvPr/>
        </p:nvSpPr>
        <p:spPr>
          <a:xfrm>
            <a:off x="2511762" y="128975"/>
            <a:ext cx="9363561" cy="553998"/>
          </a:xfrm>
          <a:prstGeom prst="rect">
            <a:avLst/>
          </a:prstGeom>
          <a:noFill/>
        </p:spPr>
        <p:txBody>
          <a:bodyPr wrap="square" rtlCol="0">
            <a:spAutoFit/>
          </a:bodyPr>
          <a:lstStyle/>
          <a:p>
            <a:pPr algn="ctr"/>
            <a:r>
              <a:rPr lang="en-US" sz="3000" b="1" dirty="0" smtClean="0">
                <a:solidFill>
                  <a:srgbClr val="FFFF00"/>
                </a:solidFill>
                <a:latin typeface="Times New Roman" panose="02020603050405020304" pitchFamily="18" charset="0"/>
                <a:cs typeface="Times New Roman" panose="02020603050405020304" pitchFamily="18" charset="0"/>
              </a:rPr>
              <a:t>PRIMARY ROLE</a:t>
            </a:r>
            <a:endParaRPr lang="en-US" sz="3000" b="1" dirty="0">
              <a:solidFill>
                <a:srgbClr val="FFFF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7203786"/>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F46216B-77A9-411A-B9D3-5023FCB7020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183</TotalTime>
  <Words>691</Words>
  <Application>Microsoft Office PowerPoint</Application>
  <PresentationFormat>Widescreen</PresentationFormat>
  <Paragraphs>82</Paragraphs>
  <Slides>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Calibri</vt:lpstr>
      <vt:lpstr>Calibri Light</vt:lpstr>
      <vt:lpstr>Times New Roman</vt:lpstr>
      <vt:lpstr>Office Theme</vt:lpstr>
      <vt:lpstr>ISABELLA  LUDWIG</vt:lpstr>
      <vt:lpstr>EXECUTIVE SUMMARY</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ISABELLA  LUDWIG</dc:title>
  <dc:creator>PC</dc:creator>
  <cp:lastModifiedBy>PC</cp:lastModifiedBy>
  <cp:revision>20</cp:revision>
  <dcterms:created xsi:type="dcterms:W3CDTF">2026-01-01T19:03:18Z</dcterms:created>
  <dcterms:modified xsi:type="dcterms:W3CDTF">2026-01-01T22:18:37Z</dcterms:modified>
</cp:coreProperties>
</file>